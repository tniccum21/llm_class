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20" r:id="rId3"/>
    <p:sldId id="322" r:id="rId4"/>
    <p:sldId id="324" r:id="rId5"/>
    <p:sldId id="325" r:id="rId6"/>
    <p:sldId id="326" r:id="rId7"/>
    <p:sldId id="327" r:id="rId8"/>
    <p:sldId id="323" r:id="rId9"/>
    <p:sldId id="328" r:id="rId10"/>
    <p:sldId id="329" r:id="rId11"/>
    <p:sldId id="330" r:id="rId12"/>
    <p:sldId id="331" r:id="rId13"/>
    <p:sldId id="332" r:id="rId14"/>
    <p:sldId id="334" r:id="rId15"/>
    <p:sldId id="316" r:id="rId16"/>
  </p:sldIdLst>
  <p:sldSz cx="12192000" cy="6858000"/>
  <p:notesSz cx="6858000" cy="12192000"/>
  <p:embeddedFontLst>
    <p:embeddedFont>
      <p:font typeface="MiSans" pitchFamily="2" charset="-122"/>
      <p:regular r:id="rId18"/>
    </p:embeddedFont>
    <p:embeddedFont>
      <p:font typeface="Noto Sans SC" panose="020B0200000000000000" pitchFamily="34" charset="-128"/>
      <p:regular r:id="rId19"/>
    </p:embeddedFont>
    <p:embeddedFont>
      <p:font typeface="Source Sans Pro" panose="020B0503030403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2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BC7EC-7733-74FE-639C-373DC128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001BC-B6C9-CE4E-4270-9536CFDEE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CEC33-8A95-90F5-EC08-9039F4220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16AAE-6BA4-76A3-2E50-A7C1BB422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74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1CDF-DB3D-C61B-438D-03672A53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AFF0F-57B9-082E-ED67-B420CAEF4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BCBCC-52E9-7E2B-1B05-29883ED2B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36930-DEDD-EB5D-E4AE-8099AF0296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6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78A5-9C5E-9E98-708C-A87CA110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E89B9-9C22-E6CA-68FF-0841DAF22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7F24A-8238-2618-C5AA-D7B8FDF46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2ABAE-6F68-7CBE-0E12-05E23229F4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20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8CDC-3C31-88D3-2DA6-55F19315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A2A52-9594-C166-821F-245489476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5B495-0C69-2766-F66E-86DDD1BD2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CE5ED-7F5F-EA6C-F5A6-6E01C691B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8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4334D-13A0-B099-8786-0A096041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56048-5971-6DA8-BB31-34B826B6E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16A1C-BE7E-2257-30DF-5B2529ACD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382AB-FDDA-33EC-6CEB-D85513EC2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33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22378-EB8B-B267-368D-28B35D35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975A0-3A5F-F1A0-6C80-46DFDFF56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9AD2C-A71C-E825-0484-28D3F6E36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DC206-10C6-9134-1D99-690F00FA0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2A4B-D91B-D88C-3E3F-6E7369A57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51F75-BBBC-C488-F91D-2BDBEDF69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A60CA-CEDC-3776-4EBC-DACCDB75E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B059C-7C25-A0BD-DC1F-09EC7F2F1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91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C54B-BC06-5BEC-EF30-36DFCCD9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5DE32-2186-1E6F-66E5-17771A40C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3C63D-5151-3C4C-BD7D-0842A0EB8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CD5E0-FA8C-B35C-4E6B-C012A992B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7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8506-88FC-2630-CFAB-1759180D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9951D-7E94-22A7-DD97-F1ECB0219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61542-8ACF-6DAB-AC96-261990848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5A88B-A208-EAB0-C757-89A965225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93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FAB4-D74D-57D2-D0D0-D277B83E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D0914-0000-6DCF-B67F-C022A3FE0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8D044-392B-BDB7-CD3E-B4AF4E6FA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2D185-146D-0687-78F1-D79CD5ACF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65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7C6E-B2AD-B48D-DDA7-9870DA71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A366F-F4ED-8620-6FA5-79E686CA1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816E2-D99C-AD5B-321A-1FCCCEBCD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3920C-1866-881F-B1F2-E037DBFBB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48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9A0E-6EDC-66F3-2B0C-8D39F71E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FFE05-8908-B86A-CB36-CECDD2417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4A643-12CB-14A9-107A-BB991AC7C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C2C4-25FE-8043-1423-E8F2DD71E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ggingface.co/settings/token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835" y="2224670"/>
            <a:ext cx="8567166" cy="227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9: MCP Agents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648335" y="4560570"/>
            <a:ext cx="159766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2463165" y="4560570"/>
            <a:ext cx="173355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3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 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45" y="2816860"/>
            <a:ext cx="7075805" cy="1446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Context Protocol: The USB-C for AI Apps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/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574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Architecture: Host, Client, Server</a:t>
            </a:r>
            <a:endParaRPr 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BC1CBC-091E-E022-28A4-C7C575E8B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4000"/>
            <a:ext cx="11430000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723F-4E48-F84D-390D-8D2FBC2B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80612CFA-799B-EEC8-D61D-AB3DD6597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70E59C8-ACAF-0DC8-44C7-73FC7E8AC1E6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Installing an MCP Agent – Hugging Face MCP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E7737-E2E1-273D-C589-79861F7EE0BF}"/>
              </a:ext>
            </a:extLst>
          </p:cNvPr>
          <p:cNvSpPr txBox="1"/>
          <p:nvPr/>
        </p:nvSpPr>
        <p:spPr>
          <a:xfrm>
            <a:off x="1809750" y="1432955"/>
            <a:ext cx="6203092" cy="51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Navigate to your Hugging Face account's </a:t>
            </a:r>
            <a:r>
              <a:rPr lang="en-US" sz="1100" b="0" i="0" dirty="0">
                <a:solidFill>
                  <a:srgbClr val="4D6AF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4"/>
              </a:rPr>
              <a:t>Access Tokens settings</a:t>
            </a: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</a:p>
          <a:p>
            <a:pPr algn="l">
              <a:lnSpc>
                <a:spcPts val="165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 a new token. Give it a descriptive name (e.g., </a:t>
            </a:r>
            <a:r>
              <a:rPr lang="en-US" sz="1100" b="0" i="0" dirty="0" err="1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lm</a:t>
            </a: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-studio-</a:t>
            </a:r>
            <a:r>
              <a:rPr lang="en-US" sz="1100" b="0" i="0" dirty="0" err="1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mcp</a:t>
            </a: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and assign it the read role, which is sufficient for searching.</a:t>
            </a:r>
          </a:p>
          <a:p>
            <a:pPr algn="l">
              <a:lnSpc>
                <a:spcPts val="165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Copy the generated token (hf_...).</a:t>
            </a:r>
          </a:p>
          <a:p>
            <a:pPr algn="l">
              <a:lnSpc>
                <a:spcPts val="1650"/>
              </a:lnSpc>
              <a:spcBef>
                <a:spcPts val="1500"/>
              </a:spcBef>
              <a:buNone/>
            </a:pP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Next, add the following structure to your </a:t>
            </a:r>
            <a:r>
              <a:rPr lang="en-US" sz="1100" b="0" i="0" dirty="0" err="1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mcp.json</a:t>
            </a:r>
            <a:r>
              <a:rPr lang="en-US" sz="1100" b="0" i="0" dirty="0">
                <a:solidFill>
                  <a:srgbClr val="34405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file.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mcpServers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"hf-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-server":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huggingface.co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mcp?login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"headers": 	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"Authorization": "Bearer YOUR_HF_TOKEN"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4048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64E2-9B1A-DA74-4F03-B01D1804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2772EC5A-FCEE-CCE9-87AC-60459DEDF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6BDDF71-AD04-EE35-D7D7-D4CB1096F9BB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The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Communication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Protocol: Standards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AC50B3-5D98-3880-2252-A96CC9F8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message types">
            <a:extLst>
              <a:ext uri="{FF2B5EF4-FFF2-40B4-BE49-F238E27FC236}">
                <a16:creationId xmlns:a16="http://schemas.microsoft.com/office/drawing/2014/main" id="{558A6345-7785-CA72-99AE-B3E5FEEE2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543" y="1947405"/>
            <a:ext cx="5740057" cy="253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12D717-566D-7FD6-6E5D-D5A38161FBB5}"/>
              </a:ext>
            </a:extLst>
          </p:cNvPr>
          <p:cNvSpPr txBox="1"/>
          <p:nvPr/>
        </p:nvSpPr>
        <p:spPr>
          <a:xfrm>
            <a:off x="308919" y="1309816"/>
            <a:ext cx="56593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MCP defines a standardized communication protocol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Enables Clients and Servers to exchange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critical for interoperability (M+N!)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F5E64F-A779-D392-8D14-33D7A4918890}"/>
              </a:ext>
            </a:extLst>
          </p:cNvPr>
          <p:cNvSpPr txBox="1"/>
          <p:nvPr/>
        </p:nvSpPr>
        <p:spPr>
          <a:xfrm>
            <a:off x="279400" y="3589411"/>
            <a:ext cx="541088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MCP uses </a:t>
            </a:r>
            <a:r>
              <a:rPr lang="en-US" sz="2400" b="1" dirty="0"/>
              <a:t>JSON-RPC 2.0</a:t>
            </a:r>
            <a:r>
              <a:rPr lang="en-US" sz="2400" dirty="0"/>
              <a:t> as the message format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Human-readable and easy to debug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Language-agnostic, any programming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Clear specifications, widespread adoption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8927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79C4-7BE6-6601-1F6C-00C007DA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5520818A-1A10-758B-DA47-56F012A37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47CB937-5297-DBB4-5FB4-A61A3087F029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The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Communication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Protocol: Messages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B28E56-EA55-2FC6-3408-D0C3956C1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message types">
            <a:extLst>
              <a:ext uri="{FF2B5EF4-FFF2-40B4-BE49-F238E27FC236}">
                <a16:creationId xmlns:a16="http://schemas.microsoft.com/office/drawing/2014/main" id="{F8A28D7E-E359-C30E-E8DC-AFD11FA77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543" y="1947405"/>
            <a:ext cx="5740057" cy="253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340064-6D15-3BBC-15D3-A500BB2C8F2B}"/>
              </a:ext>
            </a:extLst>
          </p:cNvPr>
          <p:cNvSpPr txBox="1"/>
          <p:nvPr/>
        </p:nvSpPr>
        <p:spPr>
          <a:xfrm>
            <a:off x="308920" y="1369647"/>
            <a:ext cx="274578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Example Request:</a:t>
            </a:r>
            <a:br>
              <a:rPr lang="en-US" sz="1200" dirty="0"/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jsonrpc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"2.0",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1,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"method": "tools/call",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"params":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"weather",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"arguments":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"location": "San Francisco"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C0B82-144B-107A-C82B-08C77A1E0F74}"/>
              </a:ext>
            </a:extLst>
          </p:cNvPr>
          <p:cNvSpPr txBox="1"/>
          <p:nvPr/>
        </p:nvSpPr>
        <p:spPr>
          <a:xfrm>
            <a:off x="308920" y="4049027"/>
            <a:ext cx="274578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Example Response:</a:t>
            </a:r>
            <a:br>
              <a:rPr lang="en-US" sz="1200" dirty="0"/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jsonrpc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"2.0",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1,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"result":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"temperature": 62,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"conditions": "Partly cloudy"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79856-0A50-9CEE-45A4-2592716ED43B}"/>
              </a:ext>
            </a:extLst>
          </p:cNvPr>
          <p:cNvSpPr txBox="1"/>
          <p:nvPr/>
        </p:nvSpPr>
        <p:spPr>
          <a:xfrm>
            <a:off x="2731490" y="2709651"/>
            <a:ext cx="328796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Example Notification:</a:t>
            </a:r>
            <a:br>
              <a:rPr lang="en-US" sz="1200" dirty="0"/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jsonrpc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"2.0",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"method": "progress",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"params":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"message": "Processing data",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"percent": 50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46252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E515-4468-11EA-E9E8-766A2FEE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C37A345-7C4D-A420-1037-5ACFC5272F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E4BE6A7-20FE-4057-62CD-899E4AD1C405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The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Communication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Protocol: Transport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2891ED-E150-6EA7-4618-B08A9239A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message types">
            <a:extLst>
              <a:ext uri="{FF2B5EF4-FFF2-40B4-BE49-F238E27FC236}">
                <a16:creationId xmlns:a16="http://schemas.microsoft.com/office/drawing/2014/main" id="{BB049489-52B3-8B62-9B5F-87D2D016C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543" y="1947405"/>
            <a:ext cx="5740057" cy="253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9D8912-3D48-35E9-C911-8AD3FF0DF086}"/>
              </a:ext>
            </a:extLst>
          </p:cNvPr>
          <p:cNvSpPr txBox="1"/>
          <p:nvPr/>
        </p:nvSpPr>
        <p:spPr>
          <a:xfrm>
            <a:off x="308920" y="1369647"/>
            <a:ext cx="57400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stdio</a:t>
            </a:r>
            <a:r>
              <a:rPr lang="en-US" b="1" dirty="0"/>
              <a:t> (Standard Input/Output)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when the Client and Server on the same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 launches the Server as a subprocess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Communication via standard input (stdin) and standard output (</a:t>
            </a:r>
            <a:r>
              <a:rPr lang="en-US" dirty="0" err="1"/>
              <a:t>stdout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network configuration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Secure: sandboxed by the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HTTP + SSE (Server-Sent Events) / </a:t>
            </a:r>
            <a:r>
              <a:rPr lang="en-US" b="1" dirty="0" err="1"/>
              <a:t>Streamable</a:t>
            </a:r>
            <a:r>
              <a:rPr lang="en-US" b="1" dirty="0"/>
              <a:t>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Used when the Client and Server on different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Communication happens over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 uses Server-Sent Events (SSE) to push updates to the Client over a persistent 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across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integration with web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Compatible with serverless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6843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BDC6D-E322-8F71-EEEA-874B2C35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F3B23308-CC67-C07C-91EC-3ECC5E63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1174CBA-A714-7C4F-4F96-BD807EF37E0E}"/>
              </a:ext>
            </a:extLst>
          </p:cNvPr>
          <p:cNvSpPr/>
          <p:nvPr/>
        </p:nvSpPr>
        <p:spPr>
          <a:xfrm>
            <a:off x="146050" y="413265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MCP: Capability Types</a:t>
            </a:r>
            <a:endParaRPr lang="en-US" sz="16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B768DAF-AD24-B1B4-82E6-892FE01CA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601" y="1230870"/>
            <a:ext cx="7820798" cy="521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70971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63CC7-69E6-647B-E7FD-75C4E463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9E7F456-7F9C-0EA2-B4D1-C1052A73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797B76B-4545-3600-37DD-D55498F0C033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MCP: 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945F58-0C4B-9074-2347-30CBFBFCE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0B47D-258F-AEEB-0DEE-8F5049E4B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72" y="1371589"/>
            <a:ext cx="2501900" cy="347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F216B-A151-920E-0ED7-3A88BA407C5F}"/>
              </a:ext>
            </a:extLst>
          </p:cNvPr>
          <p:cNvSpPr txBox="1"/>
          <p:nvPr/>
        </p:nvSpPr>
        <p:spPr>
          <a:xfrm>
            <a:off x="4017576" y="1371589"/>
            <a:ext cx="62030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Functions that the AI model invokes using MCP protocol.</a:t>
            </a:r>
          </a:p>
          <a:p>
            <a:pPr algn="l">
              <a:buNone/>
            </a:pPr>
            <a:endParaRPr lang="en-US" b="0" i="0" dirty="0">
              <a:solidFill>
                <a:srgbClr val="4A5565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A5565"/>
                </a:solidFill>
                <a:latin typeface="Source Sans Pro" panose="020B0503030403020204" pitchFamily="34" charset="0"/>
              </a:rPr>
              <a:t>LLM/</a:t>
            </a: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model-controlled</a:t>
            </a: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, the AI model (LLM) decides when to call them based on the user’s request and context.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Safety</a:t>
            </a: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: Tools can perform actions with side effects, This can be dangerous! Typically require explicit user approval.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Use Cases</a:t>
            </a: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: Sending messages, creating tickets, querying APIs, performing calculations.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4A5565"/>
              </a:solidFill>
              <a:latin typeface="Source Sans Pro" panose="020B0503030403020204" pitchFamily="34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Example</a:t>
            </a: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: A tool that fetches current weather for a location: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1BBBD-451E-D71F-169A-0121BB9AC26F}"/>
              </a:ext>
            </a:extLst>
          </p:cNvPr>
          <p:cNvSpPr txBox="1"/>
          <p:nvPr/>
        </p:nvSpPr>
        <p:spPr>
          <a:xfrm>
            <a:off x="4017576" y="4405128"/>
            <a:ext cx="618476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get_weather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(location: str) -&gt;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"""Get the current weather for a specified location."""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Connect to weather API and fetch data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"temperature": 72,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"conditions": "Sunny",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"humidity": 45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7546996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CD79-3A9D-192B-C092-E708F498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3FA5FACB-3CA3-8F77-24C7-05F68EA66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170BB79-7194-B410-F99B-CE3E000EEFE1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MCP: Resources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6019C0-52CF-812B-0822-9C6218BA9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7BB22-5E5C-916E-B3D8-EFCEAF512381}"/>
              </a:ext>
            </a:extLst>
          </p:cNvPr>
          <p:cNvSpPr txBox="1"/>
          <p:nvPr/>
        </p:nvSpPr>
        <p:spPr>
          <a:xfrm>
            <a:off x="4017576" y="1371589"/>
            <a:ext cx="62030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Provide </a:t>
            </a:r>
            <a:r>
              <a:rPr lang="en-US" b="1" dirty="0"/>
              <a:t>read-only</a:t>
            </a:r>
            <a:r>
              <a:rPr lang="en-US" dirty="0"/>
              <a:t> access to data sources, allowing the AI model to retrieve info without executing complex logic.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Application-controlled:</a:t>
            </a:r>
            <a:r>
              <a:rPr lang="en-US" dirty="0"/>
              <a:t> the Host application typically decides when to access them.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Nature</a:t>
            </a:r>
            <a:r>
              <a:rPr lang="en-US" dirty="0"/>
              <a:t>: They are designed for data retrieval with minimal computation, similar to GET endpoints in REST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Safety</a:t>
            </a:r>
            <a:r>
              <a:rPr lang="en-US" dirty="0"/>
              <a:t>: Since they are read-only, they typically present lower security risks than Tools. Obviously depends on content!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 Cases</a:t>
            </a:r>
            <a:r>
              <a:rPr lang="en-US" dirty="0"/>
              <a:t>: Reading file contents, retrieving database records, reading configuration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A resource that provides access to file contents: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727F3-6C6D-4EDD-D672-F2544726F319}"/>
              </a:ext>
            </a:extLst>
          </p:cNvPr>
          <p:cNvSpPr txBox="1"/>
          <p:nvPr/>
        </p:nvSpPr>
        <p:spPr>
          <a:xfrm>
            <a:off x="4035908" y="5064908"/>
            <a:ext cx="618476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str) -&gt; str: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"""Read the contents of a file at the specified path."""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'r') as f: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9331D-4E6E-E44D-CB9A-1DAED441D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99" y="1371589"/>
            <a:ext cx="27432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540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2BFB8-A7BA-0D7B-E367-3D0803FB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E36C8E83-37B3-9D31-F2AA-0241605E52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946797B-F4E0-214D-59B4-CE3AD3002EFD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MCP: Prompts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280592-8627-39FE-A241-EA605B80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3622D-FD52-C94E-A927-8D79A33B8E2D}"/>
              </a:ext>
            </a:extLst>
          </p:cNvPr>
          <p:cNvSpPr txBox="1"/>
          <p:nvPr/>
        </p:nvSpPr>
        <p:spPr>
          <a:xfrm>
            <a:off x="4035908" y="1147988"/>
            <a:ext cx="62030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Templates or workflows </a:t>
            </a:r>
            <a:r>
              <a:rPr lang="en-US" dirty="0"/>
              <a:t>that guide the interaction between the user, the AI model, and the Server’s capabilities.</a:t>
            </a:r>
          </a:p>
          <a:p>
            <a:endParaRPr lang="en-US" dirty="0"/>
          </a:p>
          <a:p>
            <a:r>
              <a:rPr lang="en-US" b="1" dirty="0"/>
              <a:t>Control</a:t>
            </a:r>
            <a:r>
              <a:rPr lang="en-US" dirty="0"/>
              <a:t>: </a:t>
            </a:r>
            <a:r>
              <a:rPr lang="en-US" b="1" dirty="0"/>
              <a:t>User-controlled</a:t>
            </a:r>
            <a:r>
              <a:rPr lang="en-US" dirty="0"/>
              <a:t>, presented as options in the Host’s UI.</a:t>
            </a:r>
          </a:p>
          <a:p>
            <a:r>
              <a:rPr lang="en-US" b="1" dirty="0"/>
              <a:t>Purpose</a:t>
            </a:r>
            <a:r>
              <a:rPr lang="en-US" dirty="0"/>
              <a:t>: They structure interactions between user and agent.</a:t>
            </a:r>
          </a:p>
          <a:p>
            <a:r>
              <a:rPr lang="en-US" b="1" dirty="0"/>
              <a:t>Selection</a:t>
            </a:r>
            <a:r>
              <a:rPr lang="en-US" dirty="0"/>
              <a:t>: Typically selected before the AI model begins processing, sets context for the interaction.</a:t>
            </a:r>
          </a:p>
          <a:p>
            <a:r>
              <a:rPr lang="en-US" b="1" dirty="0"/>
              <a:t>Use Cases</a:t>
            </a:r>
            <a:r>
              <a:rPr lang="en-US" dirty="0"/>
              <a:t>: Common workflows, specialized task templates, guided interactions.</a:t>
            </a:r>
          </a:p>
          <a:p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A prompt template for generating a code review: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096C5-728A-0FBB-B6A7-515F089C829E}"/>
              </a:ext>
            </a:extLst>
          </p:cNvPr>
          <p:cNvSpPr txBox="1"/>
          <p:nvPr/>
        </p:nvSpPr>
        <p:spPr>
          <a:xfrm>
            <a:off x="4035908" y="4443048"/>
            <a:ext cx="79736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code_review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(code: str, language: str) -&gt; list: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"""Generate a code review for the provided code snippet."""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[{"role": "system",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"content":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f"You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are a code reviewer examining {language} code. Provide a detailed review highlighting best practices, potential issues, and suggestions for improvement."},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{"role": "user",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"content":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f"Please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review this {language} code: \n\n```{language}\n{code}\n```"}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BDEF7-95D9-2893-69B1-90672CFBD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08" y="1286328"/>
            <a:ext cx="27940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8614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C3A4D-1600-4966-BCC6-F4A6C5E4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60115DF1-D6E4-0E6F-1AA1-45AA8A5C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FB1553E-6F9D-6C25-4ED4-B02D934E5F75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MCP: Capabilities Work Together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FB4A30-1316-8CDF-BECC-07221DACE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DDE359-FB75-697F-5B19-2CD3F18DA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65887"/>
              </p:ext>
            </p:extLst>
          </p:nvPr>
        </p:nvGraphicFramePr>
        <p:xfrm>
          <a:off x="698500" y="1371589"/>
          <a:ext cx="10515600" cy="2804160"/>
        </p:xfrm>
        <a:graphic>
          <a:graphicData uri="http://schemas.openxmlformats.org/drawingml/2006/table">
            <a:tbl>
              <a:tblPr/>
              <a:tblGrid>
                <a:gridCol w="1382486">
                  <a:extLst>
                    <a:ext uri="{9D8B030D-6E8A-4147-A177-3AD203B41FA5}">
                      <a16:colId xmlns:a16="http://schemas.microsoft.com/office/drawing/2014/main" val="1951975771"/>
                    </a:ext>
                  </a:extLst>
                </a:gridCol>
                <a:gridCol w="1768510">
                  <a:extLst>
                    <a:ext uri="{9D8B030D-6E8A-4147-A177-3AD203B41FA5}">
                      <a16:colId xmlns:a16="http://schemas.microsoft.com/office/drawing/2014/main" val="1963237447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40840427"/>
                    </a:ext>
                  </a:extLst>
                </a:gridCol>
                <a:gridCol w="1728317">
                  <a:extLst>
                    <a:ext uri="{9D8B030D-6E8A-4147-A177-3AD203B41FA5}">
                      <a16:colId xmlns:a16="http://schemas.microsoft.com/office/drawing/2014/main" val="3693844708"/>
                    </a:ext>
                  </a:extLst>
                </a:gridCol>
                <a:gridCol w="1245995">
                  <a:extLst>
                    <a:ext uri="{9D8B030D-6E8A-4147-A177-3AD203B41FA5}">
                      <a16:colId xmlns:a16="http://schemas.microsoft.com/office/drawing/2014/main" val="3257802885"/>
                    </a:ext>
                  </a:extLst>
                </a:gridCol>
                <a:gridCol w="2692121">
                  <a:extLst>
                    <a:ext uri="{9D8B030D-6E8A-4147-A177-3AD203B41FA5}">
                      <a16:colId xmlns:a16="http://schemas.microsoft.com/office/drawing/2014/main" val="4187327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</a:rPr>
                        <a:t>Capability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</a:rPr>
                        <a:t>Controlled By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</a:rPr>
                        <a:t>Direction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 dirty="0">
                          <a:effectLst/>
                        </a:rPr>
                        <a:t>Side Effects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</a:rPr>
                        <a:t>Approval Needed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</a:rPr>
                        <a:t>Typical Use Cases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662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Tools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Model (LLM)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Client → Server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Yes (potentially)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Actions, API calls, data manipulation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50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Resources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Application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Client → Server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No (read-only)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Data retrieval, context gathering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68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Prompts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User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Server → Client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E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Guided workflows, specialized templates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E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5126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420CEEA-8024-8385-BB55-D45EB3713042}"/>
              </a:ext>
            </a:extLst>
          </p:cNvPr>
          <p:cNvSpPr txBox="1"/>
          <p:nvPr/>
        </p:nvSpPr>
        <p:spPr>
          <a:xfrm>
            <a:off x="2039815" y="4534543"/>
            <a:ext cx="82898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A user could select a </a:t>
            </a: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Prompt</a:t>
            </a: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to start a specialized workflow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 Prompt might include context from </a:t>
            </a: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Resources</a:t>
            </a:r>
            <a:endParaRPr lang="en-US" b="0" i="0" dirty="0">
              <a:solidFill>
                <a:srgbClr val="4A5565"/>
              </a:solidFill>
              <a:effectLst/>
              <a:latin typeface="Source Sans Pro" panose="020B0503030403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During processing, the AI model might call </a:t>
            </a:r>
            <a:r>
              <a:rPr lang="en-US" b="1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Tools</a:t>
            </a:r>
            <a:r>
              <a:rPr lang="en-US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to perform specific actions</a:t>
            </a:r>
          </a:p>
        </p:txBody>
      </p:sp>
    </p:spTree>
    <p:extLst>
      <p:ext uri="{BB962C8B-B14F-4D97-AF65-F5344CB8AC3E}">
        <p14:creationId xmlns:p14="http://schemas.microsoft.com/office/powerpoint/2010/main" val="315235056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6C00-24F3-AB13-F102-DC80CF71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D10B950A-84DA-5069-7047-F56A96ACC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D85A2D4-70C6-C385-FA23-0A6F93BD9139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MCP: Discovery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83CAC4-1EFC-507B-52E2-59AEC432D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470DB-BF6E-FBAC-8B94-CA7C9928FD10}"/>
              </a:ext>
            </a:extLst>
          </p:cNvPr>
          <p:cNvSpPr txBox="1"/>
          <p:nvPr/>
        </p:nvSpPr>
        <p:spPr>
          <a:xfrm>
            <a:off x="1115368" y="1890996"/>
            <a:ext cx="10797232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The MCP’s Client uses dynamic discovery to find out what capabilities are available on the server.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effectLst/>
              </a:rPr>
              <a:t>When a Client connects to a Server, it queries the available capabilities through standard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tools/list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Discover available Tools</a:t>
            </a: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resources/list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Discover available Resources</a:t>
            </a: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prompts/list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Discover available Prompts</a:t>
            </a:r>
          </a:p>
          <a:p>
            <a:pPr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ts val="1500"/>
              </a:lnSpc>
            </a:pP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effectLst/>
              </a:rPr>
              <a:t>This discovery mechanism allows Clients to adapt dynamically to the capabilities of each Server without requiring hardcoded knowledge of the Server’s functionality.</a:t>
            </a:r>
          </a:p>
          <a:p>
            <a:pPr>
              <a:lnSpc>
                <a:spcPts val="2100"/>
              </a:lnSpc>
              <a:buNone/>
            </a:pPr>
            <a:br>
              <a:rPr lang="en-US" b="1" i="0" dirty="0">
                <a:effectLst/>
                <a:latin typeface="Source Sans Pro" panose="020B0503030403020204" pitchFamily="34" charset="0"/>
              </a:rPr>
            </a:b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826571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96DD0-5826-BC30-A771-FCEB218E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DA7785DB-4F35-05AB-3A3F-F285E19C7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29A5FD7-AABA-42BB-3997-C19FEA7AF019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MCP: Server Demo with </a:t>
            </a:r>
            <a:r>
              <a:rPr lang="en-US" altLang="en-US" sz="3600" b="1" dirty="0" err="1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FastMCP</a:t>
            </a:r>
            <a:endParaRPr lang="en-US" altLang="en-US" sz="3600" b="1" dirty="0">
              <a:solidFill>
                <a:srgbClr val="5C7CB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8AE077-31D8-EB0D-5BA1-2502AD410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7BD54-68DA-06E1-07A9-E696941880A1}"/>
              </a:ext>
            </a:extLst>
          </p:cNvPr>
          <p:cNvSpPr txBox="1"/>
          <p:nvPr/>
        </p:nvSpPr>
        <p:spPr>
          <a:xfrm>
            <a:off x="874207" y="1436914"/>
            <a:ext cx="105005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Give an LLM a new capability – use the internet to find the weather in a location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We’ll use SERPAPI as our web interface to Google Search (free API Key for 1000 calls)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Then, we’ll create our MCP Server using the FASTMCP </a:t>
            </a:r>
            <a:r>
              <a:rPr lang="en-US" dirty="0" err="1"/>
              <a:t>sdk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we can test our server using FASTMCP’s “Inspector”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When it works, we can install the client side in LM Studio, and use LM Studio’s “Client”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mcpServers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stoopid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-weather":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"command": "/Volumes/RAID0/repos/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Apps_with_AI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/bin/python",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"/Volumes/RAID0/repos/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Apps_with_AI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/Week09/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stoopid_wx_server.py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our small LLM will have access to the weather.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it’s working we can install it in Claude Desktop, etc.</a:t>
            </a:r>
          </a:p>
        </p:txBody>
      </p:sp>
    </p:spTree>
    <p:extLst>
      <p:ext uri="{BB962C8B-B14F-4D97-AF65-F5344CB8AC3E}">
        <p14:creationId xmlns:p14="http://schemas.microsoft.com/office/powerpoint/2010/main" val="333550528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5D98-9585-2ED6-4AED-B22BAB7BC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70783AEB-60AF-715C-8A3A-C9CE32C5B989}"/>
              </a:ext>
            </a:extLst>
          </p:cNvPr>
          <p:cNvSpPr/>
          <p:nvPr/>
        </p:nvSpPr>
        <p:spPr>
          <a:xfrm>
            <a:off x="1640086" y="2336800"/>
            <a:ext cx="891182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pic>
        <p:nvPicPr>
          <p:cNvPr id="7170" name="Picture 2" descr="Decoding AI Magazine">
            <a:extLst>
              <a:ext uri="{FF2B5EF4-FFF2-40B4-BE49-F238E27FC236}">
                <a16:creationId xmlns:a16="http://schemas.microsoft.com/office/drawing/2014/main" id="{6D0D3B04-63DA-800A-B92E-131E87E27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19" y="3577280"/>
            <a:ext cx="4470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68C652-6AB4-B703-C8CA-6CBE836F8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688" y="2557849"/>
            <a:ext cx="22479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CE1B3-E6CF-D1A2-D293-15807F708A45}"/>
              </a:ext>
            </a:extLst>
          </p:cNvPr>
          <p:cNvSpPr txBox="1"/>
          <p:nvPr/>
        </p:nvSpPr>
        <p:spPr>
          <a:xfrm>
            <a:off x="5036065" y="345989"/>
            <a:ext cx="21198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Credits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1343C-CDB7-BAF5-11E4-39E484F788A3}"/>
              </a:ext>
            </a:extLst>
          </p:cNvPr>
          <p:cNvSpPr txBox="1"/>
          <p:nvPr/>
        </p:nvSpPr>
        <p:spPr>
          <a:xfrm>
            <a:off x="7147182" y="3244334"/>
            <a:ext cx="304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www.natebjones.com</a:t>
            </a:r>
            <a:r>
              <a:rPr lang="en-US" dirty="0"/>
              <a:t>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ACC674-160B-932E-7D5F-FE6A20CC5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6918" y="1676400"/>
            <a:ext cx="3438769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201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1317</Words>
  <Application>Microsoft Macintosh PowerPoint</Application>
  <PresentationFormat>Widescreen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Courier New</vt:lpstr>
      <vt:lpstr>MiSans</vt:lpstr>
      <vt:lpstr>Arial</vt:lpstr>
      <vt:lpstr>Source Sans Pro</vt:lpstr>
      <vt:lpstr>Noto Sans SC</vt:lpstr>
      <vt:lpstr>Menlo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0 to 5K: The RAG Blueprint</dc:title>
  <dc:subject>From 0 to 5K: The RAG Blueprint</dc:subject>
  <dc:creator>Kimi</dc:creator>
  <cp:lastModifiedBy>Thomas Niccum</cp:lastModifiedBy>
  <cp:revision>10</cp:revision>
  <dcterms:created xsi:type="dcterms:W3CDTF">2025-11-09T20:25:50Z</dcterms:created>
  <dcterms:modified xsi:type="dcterms:W3CDTF">2025-11-21T06:31:24Z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{"Label":"From 0 to 5K: The RAG Blueprint","ContentProducer":"001191110108MACG2KBH8F10000","ProduceID":"d48f9tmqvl7fh1midktg","ReservedCode1":"","ContentPropagator":"001191110108MACG2KBH8F20000","PropagateID":"d48f9tmqvl7fh1midktg","ReservedCode2":""}</vt:lpwstr>
  </property>
</Properties>
</file>