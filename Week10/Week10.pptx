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320" r:id="rId3"/>
    <p:sldId id="322" r:id="rId4"/>
    <p:sldId id="325" r:id="rId5"/>
    <p:sldId id="336" r:id="rId6"/>
    <p:sldId id="326" r:id="rId7"/>
    <p:sldId id="337" r:id="rId8"/>
    <p:sldId id="327" r:id="rId9"/>
    <p:sldId id="338" r:id="rId10"/>
    <p:sldId id="339" r:id="rId11"/>
    <p:sldId id="340" r:id="rId12"/>
    <p:sldId id="341" r:id="rId13"/>
    <p:sldId id="344" r:id="rId14"/>
    <p:sldId id="343" r:id="rId15"/>
    <p:sldId id="342" r:id="rId16"/>
    <p:sldId id="345" r:id="rId17"/>
    <p:sldId id="347" r:id="rId18"/>
    <p:sldId id="346" r:id="rId19"/>
    <p:sldId id="328" r:id="rId20"/>
    <p:sldId id="329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16" r:id="rId39"/>
  </p:sldIdLst>
  <p:sldSz cx="12192000" cy="6858000"/>
  <p:notesSz cx="6858000" cy="12192000"/>
  <p:embeddedFontLst>
    <p:embeddedFont>
      <p:font typeface="MiSans" pitchFamily="2" charset="-122"/>
      <p:regular r:id="rId41"/>
    </p:embeddedFont>
    <p:embeddedFont>
      <p:font typeface="Noto Sans SC" panose="020B0200000000000000" pitchFamily="34" charset="-128"/>
      <p:regular r:id="rId42"/>
    </p:embeddedFont>
    <p:embeddedFont>
      <p:font typeface="DM Mono" panose="020B0509040201040103" pitchFamily="49" charset="77"/>
      <p:regular r:id="rId43"/>
      <p:italic r:id="rId44"/>
    </p:embeddedFont>
    <p:embeddedFont>
      <p:font typeface="Source Sans Pro" panose="020B0503030403020204" pitchFamily="34" charset="0"/>
      <p:regular r:id="rId45"/>
      <p:bold r:id="rId46"/>
      <p:italic r:id="rId47"/>
      <p:boldItalic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29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11CDF-DB3D-C61B-438D-03672A53E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AFF0F-57B9-082E-ED67-B420CAEF4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BCBCC-52E9-7E2B-1B05-29883ED2B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36930-DEDD-EB5D-E4AE-8099AF0296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62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3AB78-EA3F-648C-5CFD-CD53F47D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C866D-6D3E-B0E6-11F1-D9FC74603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E58C9-879C-0A13-EC69-FA3C2F1D7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55CA1-C485-C5CD-9C25-50FE16D676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450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478A5-9C5E-9E98-708C-A87CA110F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E89B9-9C22-E6CA-68FF-0841DAF22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77F24A-8238-2618-C5AA-D7B8FDF46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2ABAE-6F68-7CBE-0E12-05E23229F4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20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F49CA-00FE-9871-B64A-DB1AA230D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18650-E50D-D650-7F95-201E27A7F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0157BD-2890-BBE6-B0BC-0E2758D45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DF2F5-91E0-338D-298A-013EF4CB12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57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B8CDC-3C31-88D3-2DA6-55F19315A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6A2A52-9594-C166-821F-245489476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5B495-0C69-2766-F66E-86DDD1BD2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CE5ED-7F5F-EA6C-F5A6-6E01C691B8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88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38B6A-CBFF-F84A-D746-286297AEC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F77B9-395C-FC41-3D04-DD9501F65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AF6C00-EE11-96D6-E744-C6CD11EFD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520BB-4099-A4DE-3DC0-6FA267E982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1712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F652E-41C1-FA4C-6EDB-075F2D517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A56B56-279D-F0FB-918B-CC2B9204A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E2476-7F58-1EF1-4B9F-B27B69014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0D9A6-FC7E-118D-F0CF-346771EBFC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62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D0587-4289-6506-6F0A-5F9911C7F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A7CE2-7187-136A-BAF1-4561354C8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BDA796-7DF7-7CE3-50F5-D4D2577E5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EA8D4-E60B-54B9-C86B-112C5A5187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37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BBA9D-E8FF-0D49-B38F-38B848CCD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77B517-A1D1-B996-C52F-E9F03566E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9EC755-C342-E1EE-CCEA-E91FDD039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A548B-C31B-80CE-D0D0-D4E83E0B2D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090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E63F7-6400-1498-B0AF-BA82A77D8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1AA88-6A70-BE52-DEA5-34455D12E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D47F1-1BB2-482F-EED6-03C810294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D2A4E-3832-F56A-16A8-9E5A580201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25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00027-385B-D37B-046C-24A074C6E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076A79-7E1E-0443-F999-25D1697C8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FF844A-5101-7710-A0B0-AAC952AE8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E25FE-8E79-8B62-BB38-2157C85DF6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963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7CDB4-B089-CFF1-A8EF-16F8EBFCA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AC87C-7A0D-3708-88D3-B11BDB938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56D23-FA86-98FC-7B9F-633230FE0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7B953-356E-E64B-70F0-6C3BAA525C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66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5E7E8-45B2-F596-2122-398B3F3AC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8CF05-0D59-588F-B255-6C4B08DA9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234703-716E-32E5-ABCD-92A015102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4D959-0EFD-800A-BEC1-73D90B2DF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924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98CBB-6D4F-2B97-6211-C0FBE0AF2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AA469-6646-BACA-5901-6972295E5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41B264-58B4-9E36-E86A-EF0DB4678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2C2BA-81FA-883E-BE6C-0BAB82FCC9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2476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69B92-C42F-3C51-1FB3-6AB0F779F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510262-81B4-7372-AE43-9C31C1487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A05B57-EF00-D0B0-2699-AB86BCB3A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E0964-CF83-CA54-D090-AF026589D4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742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22378-EB8B-B267-368D-28B35D357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975A0-3A5F-F1A0-6C80-46DFDFF56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9AD2C-A71C-E825-0484-28D3F6E36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DC206-10C6-9134-1D99-690F00FA0F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843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32A4B-D91B-D88C-3E3F-6E7369A57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C51F75-BBBC-C488-F91D-2BDBEDF69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9A60CA-CEDC-3776-4EBC-DACCDB75E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B059C-7C25-A0BD-DC1F-09EC7F2F14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912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843CD-E087-AB5E-4B8D-E4ECEDCFE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1DA4B-6441-BA6B-4844-6964E4267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17C63-EB0F-857B-6268-22FF75E6D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DDB3D-B914-888F-AE17-745A345EE4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9232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9C7C0-D9DE-AB29-FC09-A47CEC79C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9FAD8-ED2D-7E6D-6A90-5A506B240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8B4F4-EBC5-2BA6-0C2D-D9E6FA824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7E596-54F7-8D9C-AB9B-59DF945DA8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998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D666-6484-93DD-825B-E38306442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150388-C428-5E30-A6D9-9F3210EBC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FDED41-D96B-1134-47C3-8E97E0AE9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E41B7-B083-D584-0999-B56542C56B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295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E31BD-E660-22E8-326D-A369A4996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42C846-5409-0AED-87EF-2E9054AD6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FBE3B-B5D2-B3FF-D0C9-FC19B2980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59AE7-ED86-F6FC-E181-B0B0B0030F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290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D1D0B-4557-D159-D59D-19303F83C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98AE54-FAAA-C2F9-7763-22CCE587F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B53BA-A97E-8196-44CC-6430E8E09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CF424-8A92-D843-6497-BCA898F275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531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373D3-20CC-B251-FE15-EF6FB2F53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0FE892-DC76-8832-F11E-06DA76281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E4F562-2793-74DD-B6B8-9991DFEF2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9BF3B-60AE-246E-8C3A-D62A5995A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054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EACAF-E9E3-05A5-B11A-F479897D5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4D453-229C-1A9E-C491-C9A5E22C4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22BE1-9CA8-0695-DF74-9CA15966B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8814D-9CFC-66AF-1748-E74CA14958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436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AB383-6669-AB2B-9BC7-CD8B8F770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70EF11-39C8-E1C2-62B0-740B74191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868EC0-163A-B867-68E2-828D1B0FF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5989A-6010-54CC-EFA2-529E13393C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790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C977B-C09C-EDF7-2571-4569421C1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7CF28-CB87-ED64-A8B1-6FF368306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3E88D-8BE7-C84A-CEAA-5EEE27FF9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09F12-C074-9719-C74D-44CE02BEEB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636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16D52-6012-11C0-56C7-D072059A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E07995-4B38-FD5A-B660-37634376E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7DB61-B36D-CC6E-BF45-386388F3A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99B41-55A3-99D7-0E4A-C1F1A10952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375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22B2E-712C-D575-93A7-31F2CB2AA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EE771C-82AB-710B-53D3-B96BAD373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9A677-864A-B205-A450-4690E2ADE2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42D22-8B86-211B-1F3B-2332E87FFE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5663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7A865-4500-A65B-99E4-7AC14444B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E09B3-06DB-4B8A-C1D1-6CCAFD0231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51DBF7-2F81-F768-3A1A-B2B6C3BDA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5AE40-FBAD-964E-E4E0-73E0A6B112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796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DAEA8-BD96-419F-0108-EA3B901BC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EB7F2-5EF2-DEA0-6628-95F88F46D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AE7C4-4C69-49E2-EB65-32B11F81B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9B484-7A1B-F96D-6497-C0602927B5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3889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C7642-0077-9A3E-43B0-3CBB4904B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51F4F-6FC8-BE97-EAE1-A1B273681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8A003-AF95-23CB-D9A4-0171EAD3C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96BD7-5887-B42A-EA86-A0B37D7430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59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935F0-DEEA-1FB6-80EB-CC8909B59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CFFA2-A7A4-4697-8687-748BBD2C4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8AB5FA-09D2-44B5-5A10-CEBE3B32B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2BC9E-3BA7-5E30-26E8-EFFCDBD944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660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12BBC-562E-7828-6090-C3319FA5A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CC5BF-E43D-9CDE-4C30-61B856916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EA1F8-3466-B73B-9B57-37C803483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E21A2-7D2E-7DAA-D7A6-39C18D81AB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870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F2279-134E-D9A3-98CF-AD84A6144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DC185F-7B7E-5673-7D3D-CD451DF64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A8C81-80F7-B3B7-3052-89257254B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DA332-EBB9-C3EE-84F8-C13D305D83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8059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9A0E-6EDC-66F3-2B0C-8D39F71E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DFFE05-8908-B86A-CB36-CECDD2417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4A643-12CB-14A9-107A-BB991AC7C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0C2C4-25FE-8043-1423-E8F2DD71E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8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2:12-d2nf7h18bjvh7rlj065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99" cy="686462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6835" y="2224670"/>
            <a:ext cx="8567166" cy="227437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Week 10: MCP Clients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648335" y="4560570"/>
            <a:ext cx="1597660" cy="5847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2463165" y="4560570"/>
            <a:ext cx="173355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3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72390" y="-84455"/>
            <a:ext cx="13742035" cy="7143115"/>
          </a:xfrm>
          <a:prstGeom prst="rect">
            <a:avLst/>
          </a:prstGeom>
          <a:gradFill flip="none" rotWithShape="1">
            <a:gsLst>
              <a:gs pos="0">
                <a:srgbClr val="EAEEF4"/>
              </a:gs>
              <a:gs pos="14000">
                <a:srgbClr val="EFF3F7"/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-72390" y="-84455"/>
            <a:ext cx="13742035" cy="71431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Kimi 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11695" y="6116955"/>
            <a:ext cx="4448810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2025/08/05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99607" y="629319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6200000">
            <a:off x="1080135" y="44450"/>
            <a:ext cx="262890" cy="117030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6745" y="2816860"/>
            <a:ext cx="7075805" cy="1446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Context Protocol: The USB-C for AI Apps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/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15748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Core Architecture: Host, Client, Server</a:t>
            </a:r>
            <a:endParaRPr lang="en-US" sz="1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EBC1CBC-091E-E022-28A4-C7C575E8B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4000"/>
            <a:ext cx="11430000" cy="63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BD64E2-9B1A-DA74-4F03-B01D1804A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6BDDF71-AD04-EE35-D7D7-D4CB1096F9BB}"/>
              </a:ext>
            </a:extLst>
          </p:cNvPr>
          <p:cNvSpPr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Introduction to MCP Clients</a:t>
            </a:r>
          </a:p>
        </p:txBody>
      </p:sp>
      <p:sp>
        <p:nvSpPr>
          <p:cNvPr id="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6CB4D5-7E71-8165-E740-AF293264A7B4}"/>
              </a:ext>
            </a:extLst>
          </p:cNvPr>
          <p:cNvSpPr txBox="1"/>
          <p:nvPr/>
        </p:nvSpPr>
        <p:spPr>
          <a:xfrm>
            <a:off x="640080" y="2872899"/>
            <a:ext cx="4755885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1350"/>
              </a:spcAft>
            </a:pPr>
            <a:r>
              <a:rPr lang="en-US" b="0" i="1" dirty="0">
                <a:effectLst/>
              </a:rPr>
              <a:t>Connecting to the Server and Utilizing Features</a:t>
            </a:r>
          </a:p>
          <a:p>
            <a:pPr marL="285750" indent="-285750">
              <a:lnSpc>
                <a:spcPct val="9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Goal:</a:t>
            </a:r>
            <a:r>
              <a:rPr lang="en-US" b="0" i="0" dirty="0">
                <a:effectLst/>
              </a:rPr>
              <a:t> Shift focus from Server implementation to Client implementation.</a:t>
            </a:r>
          </a:p>
          <a:p>
            <a:pPr marL="285750" indent="-285750">
              <a:lnSpc>
                <a:spcPct val="9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File:</a:t>
            </a:r>
            <a:r>
              <a:rPr lang="en-US" b="0" i="0" dirty="0">
                <a:effectLst/>
              </a:rPr>
              <a:t> </a:t>
            </a:r>
            <a:r>
              <a:rPr lang="en-US" b="0" i="0" dirty="0" err="1">
                <a:effectLst/>
              </a:rPr>
              <a:t>mcp_client.py</a:t>
            </a:r>
            <a:r>
              <a:rPr lang="en-US" b="0" i="0" dirty="0">
                <a:effectLst/>
              </a:rPr>
              <a:t> </a:t>
            </a:r>
            <a:r>
              <a:rPr lang="en-US" b="1" i="0" dirty="0">
                <a:effectLst/>
              </a:rPr>
              <a:t>Context:</a:t>
            </a:r>
            <a:endParaRPr lang="en-US" b="0" i="0" dirty="0">
              <a:effectLst/>
            </a:endParaRPr>
          </a:p>
          <a:p>
            <a:pPr marL="800100" lvl="1" indent="-285750">
              <a:lnSpc>
                <a:spcPct val="9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Typical Setup: You usually build </a:t>
            </a:r>
            <a:r>
              <a:rPr lang="en-US" b="0" i="1" dirty="0">
                <a:effectLst/>
              </a:rPr>
              <a:t>either</a:t>
            </a:r>
            <a:r>
              <a:rPr lang="en-US" b="0" i="0" dirty="0">
                <a:effectLst/>
              </a:rPr>
              <a:t> a client </a:t>
            </a:r>
            <a:r>
              <a:rPr lang="en-US" b="0" i="1" dirty="0">
                <a:effectLst/>
              </a:rPr>
              <a:t>or</a:t>
            </a:r>
            <a:r>
              <a:rPr lang="en-US" b="0" i="0" dirty="0">
                <a:effectLst/>
              </a:rPr>
              <a:t> a server.</a:t>
            </a:r>
          </a:p>
          <a:p>
            <a:pPr marL="800100" lvl="1" indent="-285750">
              <a:lnSpc>
                <a:spcPct val="900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Our Project: Building both to understand the full ecosystem.</a:t>
            </a:r>
          </a:p>
          <a:p>
            <a:pPr>
              <a:lnSpc>
                <a:spcPct val="90000"/>
              </a:lnSpc>
            </a:pPr>
            <a:br>
              <a:rPr lang="en-US" dirty="0"/>
            </a:br>
            <a:br>
              <a:rPr lang="en-US" sz="1500" dirty="0"/>
            </a:br>
            <a:endParaRPr lang="en-US" sz="1500" dirty="0"/>
          </a:p>
        </p:txBody>
      </p:sp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2772EC5A-FCEE-CCE9-87AC-60459DEDF7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73" r="26725" b="-4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FAC50B3-5D98-3880-2252-A96CC9F8A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7FD9A5-40B0-8525-0910-292A308D3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099" y="1890584"/>
            <a:ext cx="5974458" cy="334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68927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C25C1-E687-1CB6-B44E-65AEE5DB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74CCF81-B49E-EC95-EC18-6F6E6409D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6F55A2B5-F3DA-B543-EF44-DE1D52E90E4A}"/>
              </a:ext>
            </a:extLst>
          </p:cNvPr>
          <p:cNvSpPr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5400" b="1" dirty="0">
                <a:latin typeface="+mj-lt"/>
                <a:ea typeface="+mj-ea"/>
                <a:cs typeface="+mj-cs"/>
              </a:rPr>
              <a:t>Why Build a Custom CLI?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18CFCFA3-EEE6-BB7B-F25D-D97E6660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F29E60AC-117C-4F48-5F90-7CAA117FAA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73" r="26725" b="-4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8DC509-84E4-0D01-9169-360C1B069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914" y="1586861"/>
            <a:ext cx="6007075" cy="318782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8A56CBE-4A69-04AF-44CB-DE5805EC8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8E0761-168B-6857-7B7D-3582E0326AF8}"/>
              </a:ext>
            </a:extLst>
          </p:cNvPr>
          <p:cNvSpPr txBox="1"/>
          <p:nvPr/>
        </p:nvSpPr>
        <p:spPr>
          <a:xfrm>
            <a:off x="351692" y="2872899"/>
            <a:ext cx="4531977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1350"/>
              </a:spcAft>
              <a:buFont typeface="Arial" panose="020B0604020202020204" pitchFamily="34" charset="0"/>
              <a:buChar char="•"/>
            </a:pPr>
            <a:r>
              <a:rPr lang="en-US" sz="1500" b="0" i="0" dirty="0">
                <a:effectLst/>
              </a:rPr>
              <a:t>We want to explore some cool MCP features </a:t>
            </a:r>
          </a:p>
          <a:p>
            <a:pPr marL="285750" indent="-285750">
              <a:lnSpc>
                <a:spcPct val="90000"/>
              </a:lnSpc>
              <a:spcAft>
                <a:spcPts val="135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T</a:t>
            </a:r>
            <a:r>
              <a:rPr lang="en-US" sz="1500" b="0" i="0" dirty="0">
                <a:effectLst/>
              </a:rPr>
              <a:t>his IS a class on LLM powered apps</a:t>
            </a:r>
          </a:p>
          <a:p>
            <a:pPr marL="285750" indent="-285750">
              <a:lnSpc>
                <a:spcPct val="90000"/>
              </a:lnSpc>
              <a:spcAft>
                <a:spcPts val="135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Chatbots like Claude, etc. have the MCP Client embedded in them, we don’t really have access to the client side</a:t>
            </a:r>
          </a:p>
          <a:p>
            <a:pPr marL="285750" indent="-285750">
              <a:lnSpc>
                <a:spcPct val="90000"/>
              </a:lnSpc>
              <a:spcAft>
                <a:spcPts val="135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So far, many of the big apps (Claude, ChatGPT, LM Studio) do not implement the more advanced features in the MCP</a:t>
            </a:r>
          </a:p>
          <a:p>
            <a:pPr marL="285750" indent="-285750">
              <a:lnSpc>
                <a:spcPct val="90000"/>
              </a:lnSpc>
              <a:spcAft>
                <a:spcPts val="1350"/>
              </a:spcAft>
              <a:buFont typeface="Arial" panose="020B0604020202020204" pitchFamily="34" charset="0"/>
              <a:buChar char="•"/>
            </a:pPr>
            <a:r>
              <a:rPr lang="en-US" sz="1500" b="0" i="0" dirty="0">
                <a:effectLst/>
              </a:rPr>
              <a:t>We</a:t>
            </a:r>
            <a:r>
              <a:rPr lang="en-US" sz="1500" dirty="0"/>
              <a:t>’ll just build our own Command Line Interface that implements a simple chat app, plus allows us to write our own code for the client side</a:t>
            </a:r>
            <a:endParaRPr lang="en-US" sz="1500" b="0" i="0" dirty="0">
              <a:effectLst/>
            </a:endParaRPr>
          </a:p>
          <a:p>
            <a:pPr marL="285750" indent="-285750">
              <a:lnSpc>
                <a:spcPct val="90000"/>
              </a:lnSpc>
              <a:spcAft>
                <a:spcPts val="1350"/>
              </a:spcAft>
              <a:buFont typeface="Arial" panose="020B0604020202020204" pitchFamily="34" charset="0"/>
              <a:buChar char="•"/>
            </a:pPr>
            <a:endParaRPr lang="en-US" sz="1500" b="0" i="0" dirty="0">
              <a:effectLst/>
            </a:endParaRPr>
          </a:p>
          <a:p>
            <a:pPr>
              <a:lnSpc>
                <a:spcPct val="90000"/>
              </a:lnSpc>
              <a:spcAft>
                <a:spcPts val="1350"/>
              </a:spcAft>
            </a:pPr>
            <a:endParaRPr lang="en-US" sz="15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4491185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879C4-7BE6-6601-1F6C-00C007DA5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5520818A-1A10-758B-DA47-56F012A37A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47CB937-5297-DBB4-5FB4-A61A3087F029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The</a:t>
            </a:r>
            <a:r>
              <a:rPr lang="en-US" altLang="en-US" b="1" dirty="0">
                <a:latin typeface="Source Sans Pro" panose="020B0503030403020204" pitchFamily="34" charset="0"/>
              </a:rPr>
              <a:t> </a:t>
            </a: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MCP</a:t>
            </a:r>
            <a:r>
              <a:rPr lang="en-US" altLang="en-US" b="1" dirty="0">
                <a:latin typeface="Source Sans Pro" panose="020B0503030403020204" pitchFamily="34" charset="0"/>
              </a:rPr>
              <a:t> </a:t>
            </a: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Communication</a:t>
            </a:r>
            <a:r>
              <a:rPr lang="en-US" altLang="en-US" b="1" dirty="0">
                <a:latin typeface="Source Sans Pro" panose="020B0503030403020204" pitchFamily="34" charset="0"/>
              </a:rPr>
              <a:t> </a:t>
            </a: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Protocol: 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B28E56-EA55-2FC6-3408-D0C3956C1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79695F-F970-59A4-6E07-4E93A9891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008" y="1478264"/>
            <a:ext cx="9452511" cy="501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2527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1710E-92A6-4BBB-6393-983C68E7A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02D4B514-E2D5-28A0-FB8C-349F30885E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DED38F7-CDF8-B1D3-24FB-CB2F128D0798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The</a:t>
            </a:r>
            <a:r>
              <a:rPr lang="en-US" altLang="en-US" b="1" dirty="0">
                <a:latin typeface="Source Sans Pro" panose="020B0503030403020204" pitchFamily="34" charset="0"/>
              </a:rPr>
              <a:t> </a:t>
            </a: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MCP</a:t>
            </a:r>
            <a:r>
              <a:rPr lang="en-US" altLang="en-US" b="1" dirty="0">
                <a:latin typeface="Source Sans Pro" panose="020B0503030403020204" pitchFamily="34" charset="0"/>
              </a:rPr>
              <a:t> </a:t>
            </a: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Communication</a:t>
            </a:r>
            <a:r>
              <a:rPr lang="en-US" altLang="en-US" b="1" dirty="0">
                <a:latin typeface="Source Sans Pro" panose="020B0503030403020204" pitchFamily="34" charset="0"/>
              </a:rPr>
              <a:t> </a:t>
            </a: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Protocol: 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67FD60-B0FD-BDDE-0224-CC0B98FA2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0FA4C-A169-66CF-3922-6ADF545D9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200" y="1498348"/>
            <a:ext cx="8544832" cy="465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1311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6E515-4468-11EA-E9E8-766A2FEED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CC37A345-7C4D-A420-1037-5ACFC5272F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E4BE6A7-20FE-4057-62CD-899E4AD1C405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Client Wrapper Class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2891ED-E150-6EA7-4618-B08A9239A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C762F0-A025-B739-762E-6A0A6F3035F2}"/>
              </a:ext>
            </a:extLst>
          </p:cNvPr>
          <p:cNvSpPr txBox="1"/>
          <p:nvPr/>
        </p:nvSpPr>
        <p:spPr>
          <a:xfrm>
            <a:off x="440363" y="1737756"/>
            <a:ext cx="6203092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Why do we need a wrapper class?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The Component: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The 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MCPClient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class wraps the 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ClientSession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from the MCP Python SDK.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Purpose: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Manages the connection to the MCP Server.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Handles </a:t>
            </a: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Resource Cleanup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: </a:t>
            </a:r>
          </a:p>
          <a:p>
            <a:pPr marL="1200150" lvl="2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Ensures the connection is closed properly (Async Enter/Exit).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Architecture: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The 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ClientSession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is the raw connection.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The 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MCPClient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class exposes functionality (Tools, Resources, Prompts) to the rest of the application (CLI/Core).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86287A-5458-909A-A530-799AFFEA1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083" y="1371589"/>
            <a:ext cx="6065990" cy="410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86843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A6FFC-07CB-94E4-F5CB-DAC34187C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3DC79362-657C-487F-167A-8F1C4A7905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D217F52-3590-95D7-8D7D-C5B708D6FF94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Implementing Tool Support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4370E3-2DDE-DD04-124C-394BEBC24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7A8771-4100-7610-3B30-EBC943EE8289}"/>
              </a:ext>
            </a:extLst>
          </p:cNvPr>
          <p:cNvSpPr txBox="1"/>
          <p:nvPr/>
        </p:nvSpPr>
        <p:spPr>
          <a:xfrm>
            <a:off x="2337034" y="1737756"/>
            <a:ext cx="7517932" cy="2952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Connecting the CLI to Server Capabilities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The client needs two primary functions to interact with Tools: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list_tools</a:t>
            </a:r>
            <a:r>
              <a:rPr lang="en-US" b="1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()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Retrieves the definition of available tools from the server.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1A1C1E"/>
                </a:solidFill>
                <a:effectLst/>
                <a:latin typeface="Inter"/>
              </a:rPr>
              <a:t>Code: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return await 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self.session.list_tools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()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call_tool</a:t>
            </a:r>
            <a:r>
              <a:rPr lang="en-US" b="1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(name, arguments)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Executes a specific tool requested by Claude.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1A1C1E"/>
                </a:solidFill>
                <a:effectLst/>
                <a:latin typeface="Inter"/>
              </a:rPr>
              <a:t>Code: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return await 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self.session.call_tool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(name, arguments)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Integration: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These are called by the Core logic when Claude decides it needs to perform an action that could use a tool</a:t>
            </a:r>
          </a:p>
        </p:txBody>
      </p:sp>
    </p:spTree>
    <p:extLst>
      <p:ext uri="{BB962C8B-B14F-4D97-AF65-F5344CB8AC3E}">
        <p14:creationId xmlns:p14="http://schemas.microsoft.com/office/powerpoint/2010/main" val="104321126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5F09A-05C5-B29B-5A6E-A93EEA4E8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A970B442-E246-DFF8-F43E-CC6E847C87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10503D2-46F1-5262-E110-DF1C565EEFEE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Resources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4221A1-B71A-D90B-80B3-5796FBDD6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EDE303-D763-BB91-B80F-273864CF7C43}"/>
              </a:ext>
            </a:extLst>
          </p:cNvPr>
          <p:cNvSpPr txBox="1"/>
          <p:nvPr/>
        </p:nvSpPr>
        <p:spPr>
          <a:xfrm>
            <a:off x="298939" y="1737756"/>
            <a:ext cx="6104372" cy="3665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US" b="1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A1C1E"/>
                </a:solidFill>
                <a:latin typeface="Inter"/>
              </a:rPr>
              <a:t>The MCP Concept:</a:t>
            </a:r>
            <a:r>
              <a:rPr lang="en-US" dirty="0">
                <a:solidFill>
                  <a:srgbClr val="1A1C1E"/>
                </a:solidFill>
                <a:latin typeface="Inter"/>
              </a:rPr>
              <a:t> </a:t>
            </a:r>
            <a:r>
              <a:rPr lang="en-US" b="1" dirty="0">
                <a:solidFill>
                  <a:srgbClr val="1A1C1E"/>
                </a:solidFill>
                <a:latin typeface="Inter"/>
              </a:rPr>
              <a:t>Resources</a:t>
            </a:r>
            <a:endParaRPr lang="en-US" dirty="0">
              <a:solidFill>
                <a:srgbClr val="1A1C1E"/>
              </a:solidFill>
              <a:latin typeface="Inter"/>
            </a:endParaRP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C1E"/>
                </a:solidFill>
                <a:latin typeface="Inter"/>
              </a:rPr>
              <a:t>Resources allow the server to expose data for reading.</a:t>
            </a: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C1E"/>
                </a:solidFill>
                <a:latin typeface="Inter"/>
              </a:rPr>
              <a:t>Distinct from Tools (which perform actions); </a:t>
            </a: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C1E"/>
                </a:solidFill>
                <a:latin typeface="Inter"/>
              </a:rPr>
              <a:t>Resources are for fetching data.</a:t>
            </a: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endParaRPr lang="en-US" b="1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The "@" CLI Feature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The Feature: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Allow users to “mention” a document (e.g., "What is in @</a:t>
            </a:r>
            <a:r>
              <a:rPr lang="en-US" b="0" i="0" dirty="0" err="1">
                <a:solidFill>
                  <a:srgbClr val="1A1C1E"/>
                </a:solidFill>
                <a:effectLst/>
                <a:latin typeface="Inter"/>
              </a:rPr>
              <a:t>report.pdf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?").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Workflow: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User types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@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...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App shows </a:t>
            </a: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Autocomplete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list of documents.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User selects a file...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App </a:t>
            </a: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Fetches Content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and injects it into the prompt context behind the scenes.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FA1BCD-32B7-E2F8-145C-24CCE70BD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560" y="3360252"/>
            <a:ext cx="5525501" cy="288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9079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5730C-A948-761C-3C23-1EA56A0F6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8F4739FD-4DFC-F7B8-BB5F-DE7F8B266E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2D31D9C-2F88-F83D-6F11-FC472A742950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Resource Types &amp; URIs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FEBE67-4702-2FDE-7D78-07763740E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1AB275-906C-1DCA-9EB8-93CC0DE57741}"/>
              </a:ext>
            </a:extLst>
          </p:cNvPr>
          <p:cNvSpPr txBox="1"/>
          <p:nvPr/>
        </p:nvSpPr>
        <p:spPr>
          <a:xfrm>
            <a:off x="3052187" y="1778356"/>
            <a:ext cx="6104372" cy="279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1350"/>
              </a:spcAft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Defining Access Points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Direct (Static) Resources: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Fixed URI.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1A1C1E"/>
                </a:solidFill>
                <a:effectLst/>
                <a:latin typeface="Inter"/>
              </a:rPr>
              <a:t>Use Case: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Getting the list of all document names for autocomplete.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1A1C1E"/>
                </a:solidFill>
                <a:effectLst/>
                <a:latin typeface="Inter"/>
              </a:rPr>
              <a:t>URI Example: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docs://documents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Templated Resources: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Dynamic URI with parameters (Wildcards).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1A1C1E"/>
                </a:solidFill>
                <a:effectLst/>
                <a:latin typeface="Inter"/>
              </a:rPr>
              <a:t>Use Case: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Getting the content of a specific document.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1A1C1E"/>
                </a:solidFill>
                <a:effectLst/>
                <a:latin typeface="Inter"/>
              </a:rPr>
              <a:t>URI Example: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docs://documents/{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doc_id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}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1A1C1E"/>
                </a:solidFill>
                <a:effectLst/>
                <a:latin typeface="Inter"/>
              </a:rPr>
              <a:t>Note: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The SDK parses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{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doc_id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}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and passes it as an argument to the function.</a:t>
            </a:r>
          </a:p>
        </p:txBody>
      </p:sp>
    </p:spTree>
    <p:extLst>
      <p:ext uri="{BB962C8B-B14F-4D97-AF65-F5344CB8AC3E}">
        <p14:creationId xmlns:p14="http://schemas.microsoft.com/office/powerpoint/2010/main" val="2729907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33B5A-EA05-680F-588E-CDD1A05FD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48ACF26C-150D-82DB-F4B6-1D160D3D83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3F1134F-03ED-A4F0-249E-F292E1B22CF5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Server-Side Resource 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C8CF73-722B-E30E-8917-4EF2EFB75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43FEC4-3806-63E8-3004-6BB1E049FE95}"/>
              </a:ext>
            </a:extLst>
          </p:cNvPr>
          <p:cNvSpPr txBox="1"/>
          <p:nvPr/>
        </p:nvSpPr>
        <p:spPr>
          <a:xfrm>
            <a:off x="3052187" y="1733472"/>
            <a:ext cx="6104372" cy="3234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Adding Resources to </a:t>
            </a:r>
            <a:r>
              <a:rPr lang="en-US" b="1" dirty="0" err="1">
                <a:solidFill>
                  <a:srgbClr val="1A1C1E"/>
                </a:solidFill>
                <a:latin typeface="Inter"/>
              </a:rPr>
              <a:t>stoopid_wx_</a:t>
            </a:r>
            <a:r>
              <a:rPr lang="en-US" b="1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server.py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 algn="l">
              <a:lnSpc>
                <a:spcPts val="1500"/>
              </a:lnSpc>
              <a:spcAft>
                <a:spcPts val="135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1. List Documents (Static)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Decorator: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@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mcp.resource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("docs://documents")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1200150" lvl="2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MIME Type: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application/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json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(Hint to client: Parse this string).</a:t>
            </a:r>
          </a:p>
          <a:p>
            <a:pPr marL="1200150" lvl="2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Action: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Returns </a:t>
            </a: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LIST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 of document keys.</a:t>
            </a:r>
          </a:p>
          <a:p>
            <a:pPr marL="285750" indent="-285750" algn="l">
              <a:lnSpc>
                <a:spcPts val="1500"/>
              </a:lnSpc>
              <a:spcAft>
                <a:spcPts val="135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2. Fetch Document (Templated)</a:t>
            </a:r>
          </a:p>
          <a:p>
            <a:pPr marL="742950" lvl="1" indent="-285750">
              <a:lnSpc>
                <a:spcPts val="1500"/>
              </a:lnSpc>
              <a:spcAft>
                <a:spcPts val="135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Decorator: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@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mcp.resource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("docs://documents/{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doc_id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}")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MIME Type: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text/plain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(Hint to client: Raw text).</a:t>
            </a: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Action: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Validates ID, returns content string.</a:t>
            </a:r>
          </a:p>
        </p:txBody>
      </p:sp>
    </p:spTree>
    <p:extLst>
      <p:ext uri="{BB962C8B-B14F-4D97-AF65-F5344CB8AC3E}">
        <p14:creationId xmlns:p14="http://schemas.microsoft.com/office/powerpoint/2010/main" val="52571128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2FA0B-8CDD-3CD8-AB9E-0D208875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91B594C3-3799-70B9-ACE5-4B40AEA929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594C58F-B4BF-0021-95EA-F96EC6964302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Client-Side Resource 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6CDA1A-DEB7-417D-0D9F-EE3D829F8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E262A-FE7D-5986-3E81-5DE8A91320BA}"/>
              </a:ext>
            </a:extLst>
          </p:cNvPr>
          <p:cNvSpPr txBox="1"/>
          <p:nvPr/>
        </p:nvSpPr>
        <p:spPr>
          <a:xfrm>
            <a:off x="3011993" y="1833288"/>
            <a:ext cx="6184760" cy="3311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Handling Data Types in </a:t>
            </a:r>
            <a:r>
              <a:rPr lang="en-US" b="1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mcp_client.py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We need a generic 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read_resource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(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uri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)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function</a:t>
            </a:r>
            <a:r>
              <a:rPr lang="en-US" dirty="0">
                <a:solidFill>
                  <a:srgbClr val="1A1C1E"/>
                </a:solidFill>
                <a:latin typeface="Inter"/>
              </a:rPr>
              <a:t>; we don’t know what the type of the resource is until we see the MIME Type come in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Logic Flow: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Request resource via 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self.session.read_resource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(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uri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)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Inspect the </a:t>
            </a: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MIME Type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of the response.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If </a:t>
            </a:r>
            <a:r>
              <a:rPr lang="en-US" b="1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application/</a:t>
            </a:r>
            <a:r>
              <a:rPr lang="en-US" b="1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json</a:t>
            </a: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Parse the text string into a Python object (List/</a:t>
            </a:r>
            <a:r>
              <a:rPr lang="en-US" b="0" i="0" dirty="0" err="1">
                <a:solidFill>
                  <a:srgbClr val="1A1C1E"/>
                </a:solidFill>
                <a:effectLst/>
                <a:latin typeface="Inter"/>
              </a:rPr>
              <a:t>Dict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).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If </a:t>
            </a:r>
            <a:r>
              <a:rPr lang="en-US" b="1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text/plain</a:t>
            </a: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Return the raw text string.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Integration: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The CLI uses this to populate the autocomplete list and fetch document content seamlessly.</a:t>
            </a:r>
          </a:p>
        </p:txBody>
      </p:sp>
    </p:spTree>
    <p:extLst>
      <p:ext uri="{BB962C8B-B14F-4D97-AF65-F5344CB8AC3E}">
        <p14:creationId xmlns:p14="http://schemas.microsoft.com/office/powerpoint/2010/main" val="165586265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C826D-DDB0-2CFB-C9E7-F35E2A336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7948839C-84BA-620F-6A8F-2FF99BFECA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3C49F3F-87D3-077D-F38A-24401D25FC4A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Client-Side Interaction with the Model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62FD0A-84E9-B60A-0687-230AC79B0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2F525-BEBA-581D-6D47-AC499264E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392940"/>
            <a:ext cx="7772400" cy="407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87617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85FB4-F6C0-6FE2-5B4C-42A298FB7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E5309C78-553F-1169-2927-AA93B4611E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73F905E-6FBA-5ABB-48BC-9F71F0695820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Prompts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96EC98-C423-A1B0-EBC6-FE5890B26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D1637-B792-3002-1479-F773D9267D55}"/>
              </a:ext>
            </a:extLst>
          </p:cNvPr>
          <p:cNvSpPr txBox="1"/>
          <p:nvPr/>
        </p:nvSpPr>
        <p:spPr>
          <a:xfrm>
            <a:off x="3052187" y="1791180"/>
            <a:ext cx="6104372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500"/>
              </a:lnSpc>
              <a:spcAft>
                <a:spcPts val="135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The "/" Slash Command Feature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The Feature: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Allow users to run predefined commands (e.g.,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/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hip_weather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).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Goal: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C</a:t>
            </a:r>
            <a:r>
              <a:rPr lang="en-US" dirty="0">
                <a:solidFill>
                  <a:srgbClr val="1A1C1E"/>
                </a:solidFill>
                <a:latin typeface="Inter"/>
              </a:rPr>
              <a:t>reate a more complex prompt that’s pre-written for the user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The MCP Concept: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Prompts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Prompts are pre-written, reusable templates stored on the server.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Why use them?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1200150" lvl="2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Standardizes complex tasks.</a:t>
            </a:r>
          </a:p>
          <a:p>
            <a:pPr marL="1200150" lvl="2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Removes the need for the user to be a "prompt engineering" expert.</a:t>
            </a:r>
          </a:p>
          <a:p>
            <a:pPr marL="1200150" lvl="2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Ensures high-quality, tested, and evaluated results.</a:t>
            </a:r>
          </a:p>
        </p:txBody>
      </p:sp>
    </p:spTree>
    <p:extLst>
      <p:ext uri="{BB962C8B-B14F-4D97-AF65-F5344CB8AC3E}">
        <p14:creationId xmlns:p14="http://schemas.microsoft.com/office/powerpoint/2010/main" val="203668250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8AFAC-A38A-3966-49AA-3E476D2F9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897CEEAB-3763-9D74-D000-217DF77A22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3BBA66D-2B48-A74A-12D8-EE0DC47D3182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Implementing Prompts on the Server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8A0249-CD7E-AB94-97FC-A91B89D4E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AF0215-6ADA-C9C9-2F66-37694C762C0D}"/>
              </a:ext>
            </a:extLst>
          </p:cNvPr>
          <p:cNvSpPr txBox="1"/>
          <p:nvPr/>
        </p:nvSpPr>
        <p:spPr>
          <a:xfrm>
            <a:off x="3052187" y="1887360"/>
            <a:ext cx="6104372" cy="277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Defining the Template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Decorator: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@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mcp.prompt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()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Components: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Name: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hip_weather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Arguments: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location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(The location for the weather).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Logic: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Returns a list of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Message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objects (User/Assistant).</a:t>
            </a:r>
          </a:p>
          <a:p>
            <a:pPr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The Prompt Content: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Constructs a highly specific instruction: ”Give the weather report in location {location} in the style of George Carlin’s hippy-dippy weatherman character."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C1E"/>
                </a:solidFill>
                <a:latin typeface="Inter"/>
              </a:rPr>
              <a:t>Newly constructed prompt sent to </a:t>
            </a:r>
            <a:r>
              <a:rPr lang="en-US" dirty="0" err="1">
                <a:solidFill>
                  <a:srgbClr val="1A1C1E"/>
                </a:solidFill>
                <a:latin typeface="Inter"/>
              </a:rPr>
              <a:t>claude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87437266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752C8-EC21-FFF9-C8AD-20439BC1C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DDBA814C-2B9A-7EEC-E790-FF812868A1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2EC8667-EB87-A7AA-76B1-0A42D80A0C25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Server Primitives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A477E0-E7CA-7087-4DDA-6DE4F09AF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B9743E-E016-643B-95AB-2B4C736F7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274152"/>
            <a:ext cx="8465772" cy="469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54764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94AB7-E655-CD96-C507-E518AF29E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E415779-B195-D297-A66A-F4C6A532B915}"/>
              </a:ext>
            </a:extLst>
          </p:cNvPr>
          <p:cNvSpPr/>
          <p:nvPr/>
        </p:nvSpPr>
        <p:spPr>
          <a:xfrm>
            <a:off x="1008184" y="174032"/>
            <a:ext cx="10175631" cy="1111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Implementing Prompts on the Server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97D6FBA-2833-B44D-304F-D13CA2CE4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184" y="1459907"/>
            <a:ext cx="10175630" cy="76790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-22860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+mn-lt"/>
              </a:rPr>
              <a:t>Summary of MCP Components</a:t>
            </a:r>
          </a:p>
          <a:p>
            <a:pPr marL="0" marR="0" lvl="0" indent="-228600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36346B-0045-0D07-C48F-D38F2A19E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DABA3C-23D9-297D-DFA6-D62E13A99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850604"/>
              </p:ext>
            </p:extLst>
          </p:nvPr>
        </p:nvGraphicFramePr>
        <p:xfrm>
          <a:off x="835154" y="2451878"/>
          <a:ext cx="10515596" cy="3805937"/>
        </p:xfrm>
        <a:graphic>
          <a:graphicData uri="http://schemas.openxmlformats.org/drawingml/2006/table">
            <a:tbl>
              <a:tblPr/>
              <a:tblGrid>
                <a:gridCol w="2161850">
                  <a:extLst>
                    <a:ext uri="{9D8B030D-6E8A-4147-A177-3AD203B41FA5}">
                      <a16:colId xmlns:a16="http://schemas.microsoft.com/office/drawing/2014/main" val="1781646838"/>
                    </a:ext>
                  </a:extLst>
                </a:gridCol>
                <a:gridCol w="2154836">
                  <a:extLst>
                    <a:ext uri="{9D8B030D-6E8A-4147-A177-3AD203B41FA5}">
                      <a16:colId xmlns:a16="http://schemas.microsoft.com/office/drawing/2014/main" val="1520599491"/>
                    </a:ext>
                  </a:extLst>
                </a:gridCol>
                <a:gridCol w="3127513">
                  <a:extLst>
                    <a:ext uri="{9D8B030D-6E8A-4147-A177-3AD203B41FA5}">
                      <a16:colId xmlns:a16="http://schemas.microsoft.com/office/drawing/2014/main" val="121810920"/>
                    </a:ext>
                  </a:extLst>
                </a:gridCol>
                <a:gridCol w="3071397">
                  <a:extLst>
                    <a:ext uri="{9D8B030D-6E8A-4147-A177-3AD203B41FA5}">
                      <a16:colId xmlns:a16="http://schemas.microsoft.com/office/drawing/2014/main" val="132149319"/>
                    </a:ext>
                  </a:extLst>
                </a:gridCol>
              </a:tblGrid>
              <a:tr h="530615"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2700" b="1" i="0" u="none" strike="noStrike">
                          <a:effectLst/>
                          <a:latin typeface="Inter"/>
                        </a:rPr>
                        <a:t>Component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299" marR="165299" marT="82650" marB="826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2700" b="1" i="0" u="none" strike="noStrike">
                          <a:effectLst/>
                          <a:latin typeface="Inter"/>
                        </a:rPr>
                        <a:t>Purpose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299" marR="165299" marT="82650" marB="826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2700" b="1" i="0" u="none" strike="noStrike">
                          <a:effectLst/>
                          <a:latin typeface="Inter"/>
                        </a:rPr>
                        <a:t>Interaction Style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299" marR="165299" marT="82650" marB="826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2700" b="1" i="0" u="none" strike="noStrike">
                          <a:effectLst/>
                          <a:latin typeface="Inter"/>
                        </a:rPr>
                        <a:t>Example Use Case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299" marR="165299" marT="82650" marB="826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39963"/>
                  </a:ext>
                </a:extLst>
              </a:tr>
              <a:tr h="1091774"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2700" b="1" i="0" u="none" strike="noStrike">
                          <a:effectLst/>
                          <a:latin typeface="Inter"/>
                        </a:rPr>
                        <a:t>Tools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299" marR="165299" marT="82650" marB="826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2700" b="0" i="0" u="none" strike="noStrike">
                          <a:effectLst/>
                          <a:latin typeface="Inter"/>
                        </a:rPr>
                        <a:t>Actions &amp; Execution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299" marR="165299" marT="82650" marB="826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2700" b="0" i="0" u="none" strike="noStrike">
                          <a:effectLst/>
                          <a:latin typeface="Inter"/>
                        </a:rPr>
                        <a:t>Model-driven (Claude asks to use them)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299" marR="165299" marT="82650" marB="826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2700" b="0" i="0" u="none" strike="noStrike" dirty="0">
                          <a:effectLst/>
                          <a:latin typeface="Inter"/>
                        </a:rPr>
                        <a:t>Get weather</a:t>
                      </a:r>
                      <a:endParaRPr lang="en-US" sz="2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299" marR="165299" marT="82650" marB="826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945731"/>
                  </a:ext>
                </a:extLst>
              </a:tr>
              <a:tr h="1091774"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2700" b="1" i="0" u="none" strike="noStrike">
                          <a:effectLst/>
                          <a:latin typeface="Inter"/>
                        </a:rPr>
                        <a:t>Resources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299" marR="165299" marT="82650" marB="826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2700" b="0" i="0" u="none" strike="noStrike">
                          <a:effectLst/>
                          <a:latin typeface="Inter"/>
                        </a:rPr>
                        <a:t>Data Access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299" marR="165299" marT="82650" marB="826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2700" b="0" i="0" u="none" strike="noStrike">
                          <a:effectLst/>
                          <a:latin typeface="Inter"/>
                        </a:rPr>
                        <a:t>Application-driven (Client requests data)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299" marR="165299" marT="82650" marB="826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2700" b="0" i="0" u="none" strike="noStrike">
                          <a:effectLst/>
                          <a:latin typeface="Inter"/>
                        </a:rPr>
                        <a:t>Auto-complete lists, File context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299" marR="165299" marT="82650" marB="826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617213"/>
                  </a:ext>
                </a:extLst>
              </a:tr>
              <a:tr h="1091774"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2700" b="1" i="0" u="none" strike="noStrike">
                          <a:effectLst/>
                          <a:latin typeface="Inter"/>
                        </a:rPr>
                        <a:t>Prompts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299" marR="165299" marT="82650" marB="826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2700" b="0" i="0" u="none" strike="noStrike">
                          <a:effectLst/>
                          <a:latin typeface="Inter"/>
                        </a:rPr>
                        <a:t>Reusable Templates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299" marR="165299" marT="82650" marB="826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2700" b="0" i="0" u="none" strike="noStrike">
                          <a:effectLst/>
                          <a:latin typeface="Inter"/>
                        </a:rPr>
                        <a:t>User-driven (Slash commands)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299" marR="165299" marT="82650" marB="826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US" sz="2700" b="0" i="0" u="none" strike="noStrike" dirty="0">
                          <a:effectLst/>
                          <a:latin typeface="Inter"/>
                        </a:rPr>
                        <a:t>Complex, tuned prompts, Standard workflows</a:t>
                      </a:r>
                      <a:endParaRPr lang="en-US" sz="2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5299" marR="165299" marT="82650" marB="826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831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19594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63CC7-69E6-647B-E7FD-75C4E4631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C9E7F456-7F9C-0EA2-B4D1-C1052A73DA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797B76B-4545-3600-37DD-D55498F0C033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5C7CB3"/>
                </a:solidFill>
                <a:latin typeface="Noto Sans SC" pitchFamily="34" charset="0"/>
                <a:ea typeface="Noto Sans SC" pitchFamily="34" charset="-122"/>
              </a:rPr>
              <a:t>MCP: Advanced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945F58-0C4B-9074-2347-30CBFBFCE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6BDB25-37B0-7805-7D22-3F8311913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5700" y="1790700"/>
            <a:ext cx="73406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469966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4CD79-3A9D-192B-C092-E708F498F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3FA5FACB-3CA3-8F77-24C7-05F68EA66A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170BB79-7194-B410-F99B-CE3E000EEFE1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Introduction to Sampling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6019C0-52CF-812B-0822-9C6218BA9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391DF8-BFE9-7530-9460-6A0636685D90}"/>
              </a:ext>
            </a:extLst>
          </p:cNvPr>
          <p:cNvSpPr txBox="1"/>
          <p:nvPr/>
        </p:nvSpPr>
        <p:spPr>
          <a:xfrm>
            <a:off x="3039762" y="1848874"/>
            <a:ext cx="5857103" cy="2887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Giving the Server a Voice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Definition: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Sampling is a mechanism that allows an MCP Server to request access to a Language Model (like Claude) </a:t>
            </a:r>
            <a:r>
              <a:rPr lang="en-US" b="0" i="1" dirty="0">
                <a:solidFill>
                  <a:srgbClr val="1A1C1E"/>
                </a:solidFill>
                <a:effectLst/>
                <a:latin typeface="Inter"/>
              </a:rPr>
              <a:t>through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the connected MCP Client.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The Scenario: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Imagine a </a:t>
            </a: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Tool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that fetches raw data (e.g., scraping google for the current and forecast weather)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The tool fetches the data, but we want to do something ”intelligent” before we pass it back to the user.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The Goal: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The Server needs to "synthesize" or </a:t>
            </a:r>
            <a:r>
              <a:rPr lang="en-US" dirty="0">
                <a:solidFill>
                  <a:srgbClr val="1A1C1E"/>
                </a:solidFill>
                <a:latin typeface="Inter"/>
              </a:rPr>
              <a:t>augment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 this raw data </a:t>
            </a:r>
            <a:r>
              <a:rPr lang="en-US" dirty="0">
                <a:solidFill>
                  <a:srgbClr val="1A1C1E"/>
                </a:solidFill>
                <a:latin typeface="Inter"/>
              </a:rPr>
              <a:t>to make it more useful 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before sending it back to the user.</a:t>
            </a:r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47358995-F9D8-F953-D6C1-3C924E0E2D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6">
            <a:extLst>
              <a:ext uri="{FF2B5EF4-FFF2-40B4-BE49-F238E27FC236}">
                <a16:creationId xmlns:a16="http://schemas.microsoft.com/office/drawing/2014/main" id="{86D8331E-994E-3B5F-EED2-CBB885628F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54024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B11EB-DDC2-D269-CFAD-2E0B36382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F99A4220-CA34-13F9-D3FA-986F689596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F60D6CB-88E3-8651-8F87-B827709BD9BE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The Synthesis Challenge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545BAE-4956-FD50-60B7-C913388F2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0F13BA-6E97-D90E-2BA6-420C4B1E9CF7}"/>
              </a:ext>
            </a:extLst>
          </p:cNvPr>
          <p:cNvSpPr txBox="1"/>
          <p:nvPr/>
        </p:nvSpPr>
        <p:spPr>
          <a:xfrm>
            <a:off x="247203" y="1538438"/>
            <a:ext cx="6104372" cy="3490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How can the Server use intelligence to process raw data?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Once the MCP Server has fetched data (like the weather), it has two options to summarize that data:</a:t>
            </a:r>
          </a:p>
          <a:p>
            <a:pPr algn="l">
              <a:lnSpc>
                <a:spcPts val="1500"/>
              </a:lnSpc>
              <a:spcAft>
                <a:spcPts val="1350"/>
              </a:spcAft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Option 1: Direct Server-Side Generation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The Server maintains its own connection to an LLM.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The Server sends the raw data to the LLM and gets a summary.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The Problem: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Complexity: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Server needs logic to handle LLM requests.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API Keys: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The Server owner must provide and pay for their own API key.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Scalability: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Dangerous for public servers (users spend </a:t>
            </a:r>
            <a:r>
              <a:rPr lang="en-US" b="0" i="1" dirty="0">
                <a:solidFill>
                  <a:srgbClr val="1A1C1E"/>
                </a:solidFill>
                <a:effectLst/>
                <a:latin typeface="Inter"/>
              </a:rPr>
              <a:t>your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money).</a:t>
            </a:r>
            <a:endParaRPr lang="en-US" dirty="0">
              <a:solidFill>
                <a:srgbClr val="1A1C1E"/>
              </a:solidFill>
              <a:latin typeface="Inter"/>
            </a:endParaRP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rgbClr val="1A1C1E"/>
              </a:solidFill>
              <a:latin typeface="Inte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42897-DEF9-343A-CA71-E91421562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713" y="2926263"/>
            <a:ext cx="5224849" cy="292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238197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EBCF5-7796-1D8E-E984-C3F82D62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1359B497-DDB4-85C4-9CD7-0B2B7774F0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CA928C9-73AD-7265-E57F-F4E4F3519348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Or...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AE2CE9-AB69-B4E8-B078-A18E6EA6E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83614-BF95-4A40-1174-A660CE22DD91}"/>
              </a:ext>
            </a:extLst>
          </p:cNvPr>
          <p:cNvSpPr txBox="1"/>
          <p:nvPr/>
        </p:nvSpPr>
        <p:spPr>
          <a:xfrm>
            <a:off x="370771" y="1122878"/>
            <a:ext cx="6104372" cy="3898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Option 2: Sampling (The Solution)</a:t>
            </a:r>
          </a:p>
          <a:p>
            <a:r>
              <a:rPr lang="en-US" b="1" dirty="0"/>
              <a:t>Shifting the Burden to the Client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How it works: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MCP Server formulates a prompt (e.g., ”Advise the user on what to wear, given this weather forecast").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Instead of calling an LLM directly, it asks the </a:t>
            </a:r>
            <a:r>
              <a:rPr lang="en-US" b="1" dirty="0"/>
              <a:t>MCP Client</a:t>
            </a:r>
            <a:r>
              <a:rPr lang="en-US" dirty="0"/>
              <a:t>: "Can you run this prompt for me?"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 </a:t>
            </a:r>
            <a:r>
              <a:rPr lang="en-US" b="1" dirty="0"/>
              <a:t>MCP Client</a:t>
            </a:r>
            <a:r>
              <a:rPr lang="en-US" dirty="0"/>
              <a:t> (which already has a connection to Claude/LLM) runs the prompt.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Client returns the generated text back to the Server.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Note:</a:t>
            </a:r>
            <a:r>
              <a:rPr lang="en-US" dirty="0"/>
              <a:t> This is efficient because the Client acts as the gateway to the LLM anyway.</a:t>
            </a: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rgbClr val="1A1C1E"/>
              </a:solidFill>
              <a:latin typeface="Inte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BD7507-84C7-7783-7960-F83AD6104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481" y="3126259"/>
            <a:ext cx="5970009" cy="336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40328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D1F92-90DD-989C-4ACA-99E6B005F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D4A7D2B1-CD0F-2435-B8E5-3BC5B581B2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EA6FC2B-C2F0-B8DD-4124-B27EC2765F15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/>
              <a:t>Benefits of Sampling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8E4344-A578-599A-A7AD-39FF167BC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42B07-15E9-4482-3406-DE5AA62692B0}"/>
              </a:ext>
            </a:extLst>
          </p:cNvPr>
          <p:cNvSpPr txBox="1"/>
          <p:nvPr/>
        </p:nvSpPr>
        <p:spPr>
          <a:xfrm>
            <a:off x="3052187" y="1637292"/>
            <a:ext cx="6104372" cy="2790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Why use this architecture?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 Server-Side API Keys:</a:t>
            </a:r>
            <a:r>
              <a:rPr lang="en-US" dirty="0"/>
              <a:t> The Server does not need to store sensitive keys.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Cost Management: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Essential for </a:t>
            </a:r>
            <a:r>
              <a:rPr lang="en-US" b="1" dirty="0"/>
              <a:t>Publicly Accessible Servers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 </a:t>
            </a:r>
            <a:r>
              <a:rPr lang="en-US" i="1" dirty="0"/>
              <a:t>User</a:t>
            </a:r>
            <a:r>
              <a:rPr lang="en-US" dirty="0"/>
              <a:t> (via their Client) pays for the token generation, not the Server host.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Reduced Complexity:</a:t>
            </a:r>
            <a:r>
              <a:rPr lang="en-US" dirty="0"/>
              <a:t> The Server focuses on logic/tools, while the Client manages the LLM connection.</a:t>
            </a: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rgbClr val="1A1C1E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323579650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3BF92-0EC6-702C-FB72-7607ACFCF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208C420E-D247-AEC6-2653-3BC9194B43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B727B01-6FA1-D41E-75D8-456D565B6CBD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Implementing Sampling: Server-Side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9AC5BF-F3E5-0530-A7EE-5E89CCD9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86556F-FE4C-8BCA-922A-D05E969FD315}"/>
              </a:ext>
            </a:extLst>
          </p:cNvPr>
          <p:cNvSpPr txBox="1"/>
          <p:nvPr/>
        </p:nvSpPr>
        <p:spPr>
          <a:xfrm>
            <a:off x="3011993" y="1942292"/>
            <a:ext cx="618476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Requesting the Generation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To use sampling, the Server initiates the request typically inside a Tool execution.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Function: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create_message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()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Process: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Define a list of messages (System prompts, User content). 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C1E"/>
                </a:solidFill>
                <a:latin typeface="Inter"/>
              </a:rPr>
              <a:t>In other words, simulate a chatbot conversation!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Pass these messages into the 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create_message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function.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Await the result from the client.</a:t>
            </a:r>
          </a:p>
        </p:txBody>
      </p:sp>
    </p:spTree>
    <p:extLst>
      <p:ext uri="{BB962C8B-B14F-4D97-AF65-F5344CB8AC3E}">
        <p14:creationId xmlns:p14="http://schemas.microsoft.com/office/powerpoint/2010/main" val="3392905229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F504B-D625-57AF-C60A-ADBD3E33C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B8CF81FD-023C-4273-D6AC-184E5DF0CF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AAB6C12-E93C-1CA0-D43B-8D13276B9222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/>
              <a:t>Implementing Sampling: Client-Side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E24F8F-6778-9688-9F13-46AF57F15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FDF133-3B74-9075-807D-6DB6F2DCCB46}"/>
              </a:ext>
            </a:extLst>
          </p:cNvPr>
          <p:cNvSpPr txBox="1"/>
          <p:nvPr/>
        </p:nvSpPr>
        <p:spPr>
          <a:xfrm>
            <a:off x="158578" y="1737756"/>
            <a:ext cx="456170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Handling the Request</a:t>
            </a:r>
            <a:endParaRPr lang="en-US" dirty="0"/>
          </a:p>
          <a:p>
            <a:r>
              <a:rPr lang="en-US" dirty="0"/>
              <a:t>The Client requires a specific setup to listen for these requests.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Component:</a:t>
            </a:r>
            <a:r>
              <a:rPr lang="en-US" dirty="0"/>
              <a:t> </a:t>
            </a:r>
            <a:r>
              <a:rPr lang="en-US" b="1" dirty="0"/>
              <a:t>Sampling Callback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Workflow: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Client receives the list of messages from the Server.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Callback Logic:</a:t>
            </a:r>
            <a:r>
              <a:rPr lang="en-US" dirty="0"/>
              <a:t> The developer writes code to send these messages to the client’s specific LLM (e.g., Claude via Anthropic API).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Return:</a:t>
            </a:r>
            <a:r>
              <a:rPr lang="en-US" dirty="0"/>
              <a:t> The callback returns a </a:t>
            </a:r>
            <a:r>
              <a:rPr lang="en-US" dirty="0" err="1"/>
              <a:t>CreateMessageResult</a:t>
            </a:r>
            <a:r>
              <a:rPr lang="en-US" dirty="0"/>
              <a:t> containing the generated text back to the Server.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EBD63A-0540-BDD1-A181-80A39DF5C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786" y="1795930"/>
            <a:ext cx="7152635" cy="397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22243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21777-B900-E169-F170-5FA92CB48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CA3977AF-9E04-A941-B682-353B792D00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46B6816-B0AD-746D-86D1-D2C1D736A6ED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/>
              <a:t>Implementing Sampling: Server-Side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89F03A-884F-5175-74A2-BF7405BE3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0BADFE-1E11-0BEB-0315-06CB035DC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384261"/>
            <a:ext cx="7772400" cy="408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7082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9B97B-19AA-DEF8-45CC-7617AB315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5C8362C2-C05E-8062-C8B0-E8878C0C32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9BEE4E3-EF66-039E-C14B-C939501D64AB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/>
              <a:t>Implementing Sampling: Summary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BFCFB9-AFE6-4E54-EE06-A44BBD1A9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EEB3BEE-BE8A-7AD8-0C7C-7D61C1608FC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207544"/>
          <a:ext cx="10515600" cy="15875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096332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017537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907854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>
                          <a:effectLst/>
                          <a:latin typeface="Inter"/>
                        </a:rPr>
                        <a:t>Feature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>
                          <a:effectLst/>
                          <a:latin typeface="Inter"/>
                        </a:rPr>
                        <a:t>Direct Server Access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>
                          <a:effectLst/>
                          <a:latin typeface="Inter"/>
                        </a:rPr>
                        <a:t>Sampling (MCP Standard)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221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>
                          <a:effectLst/>
                          <a:latin typeface="Inter"/>
                        </a:rPr>
                        <a:t>Who calls the LLM?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  <a:latin typeface="Inter"/>
                        </a:rPr>
                        <a:t>The Server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  <a:latin typeface="Inter"/>
                        </a:rPr>
                        <a:t>The Client (on behalf of Server)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43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>
                          <a:effectLst/>
                          <a:latin typeface="Inter"/>
                        </a:rPr>
                        <a:t>Who pays for tokens?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  <a:latin typeface="Inter"/>
                        </a:rPr>
                        <a:t>Server Owner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  <a:latin typeface="Inter"/>
                        </a:rPr>
                        <a:t>User / Client Owner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856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>
                          <a:effectLst/>
                          <a:latin typeface="Inter"/>
                        </a:rPr>
                        <a:t>Ideal Use Case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  <a:latin typeface="Inter"/>
                        </a:rPr>
                        <a:t>Private, internal tools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  <a:latin typeface="Inter"/>
                        </a:rPr>
                        <a:t>Public, distributed tools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680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1">
                          <a:effectLst/>
                          <a:latin typeface="Inter"/>
                        </a:rPr>
                        <a:t>Complexity</a:t>
                      </a:r>
                      <a:endParaRPr lang="en-US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>
                          <a:effectLst/>
                          <a:latin typeface="Inter"/>
                        </a:rPr>
                        <a:t>High (Needs Key Management)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Inter"/>
                        </a:rPr>
                        <a:t>Low (Reuses Client Connection)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579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61950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A2593-2D0C-9F85-DF61-BB47E7C45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6EBE2F5E-7FE2-06DC-7241-30793F1040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5FF6AC6-2851-02DF-8D11-FE08E732F453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Logging and Progress Notifications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6FCE13-361B-55CA-FC8B-FAFB9C66E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064048-1696-0D3C-DA07-BA8D41379BA6}"/>
              </a:ext>
            </a:extLst>
          </p:cNvPr>
          <p:cNvSpPr txBox="1"/>
          <p:nvPr/>
        </p:nvSpPr>
        <p:spPr>
          <a:xfrm>
            <a:off x="3052119" y="1709657"/>
            <a:ext cx="6104238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Improving User Experience for Long-Running Tools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The Problem: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Some tools take time to complete (e.g., "Researching Archaeology" might take 30+ seconds).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Without feedback, the user sees a "frozen" state. They might assume the application has crashed or the request failed.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The Solution: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Logging: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distinct status messages sent from the server.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Progress: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A quantifiable indicator (percentage/steps) of completion.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Result: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Transforms a "black box" wait time into an interactive, transparent experience.</a:t>
            </a:r>
          </a:p>
        </p:txBody>
      </p:sp>
    </p:spTree>
    <p:extLst>
      <p:ext uri="{BB962C8B-B14F-4D97-AF65-F5344CB8AC3E}">
        <p14:creationId xmlns:p14="http://schemas.microsoft.com/office/powerpoint/2010/main" val="1512524171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740F4-CE41-011C-2672-9B4C424C7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C29F0D55-4D96-56F2-01FB-989CA0CFF0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BB0A21F-1DCF-0F99-03D4-D524BBC16C49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Logging and Progress Notifications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CDB0F6-008B-AE0E-CF27-FDF9CF9C4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13E63B-6C9C-8F7B-D80A-C72B6DB2343B}"/>
              </a:ext>
            </a:extLst>
          </p:cNvPr>
          <p:cNvSpPr txBox="1"/>
          <p:nvPr/>
        </p:nvSpPr>
        <p:spPr>
          <a:xfrm>
            <a:off x="3052119" y="1709657"/>
            <a:ext cx="61042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Server-Side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Using the Context Object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send updates, we need access to the request context inside our tool functions.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 context Argument: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Automatically injected as the </a:t>
            </a:r>
            <a:r>
              <a:rPr lang="en-US" b="1" dirty="0"/>
              <a:t>last argument</a:t>
            </a:r>
            <a:r>
              <a:rPr lang="en-US" dirty="0"/>
              <a:t> to your tool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Available Methods: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Logging:</a:t>
            </a:r>
            <a:r>
              <a:rPr lang="en-US" dirty="0"/>
              <a:t> </a:t>
            </a:r>
            <a:r>
              <a:rPr lang="en-US" dirty="0" err="1"/>
              <a:t>context.info</a:t>
            </a:r>
            <a:r>
              <a:rPr lang="en-US" dirty="0"/>
              <a:t>(”Getting Weather...")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Sends a log message object to the client.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Progress:</a:t>
            </a:r>
            <a:r>
              <a:rPr lang="en-US" dirty="0"/>
              <a:t> </a:t>
            </a:r>
            <a:r>
              <a:rPr lang="en-US" dirty="0" err="1"/>
              <a:t>context.report_progress</a:t>
            </a:r>
            <a:r>
              <a:rPr lang="en-US" dirty="0"/>
              <a:t>(current, total)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Sends a progress update (e.g., Step 2 of 5).</a:t>
            </a:r>
          </a:p>
        </p:txBody>
      </p:sp>
    </p:spTree>
    <p:extLst>
      <p:ext uri="{BB962C8B-B14F-4D97-AF65-F5344CB8AC3E}">
        <p14:creationId xmlns:p14="http://schemas.microsoft.com/office/powerpoint/2010/main" val="1953734459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F627C-E0CE-2089-35F6-B0B81531C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C318D616-C0C5-B0CE-0536-6BEDCCC234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14A9E04-697E-3A68-2D29-3B57D3E80BED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Logging - </a:t>
            </a:r>
            <a:r>
              <a:rPr lang="en-US" sz="3600" b="1" dirty="0"/>
              <a:t>Client-Side 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6DD7D2-06BB-5B0A-CC42-DEF21B35C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2CE340-9ABB-23AE-12B5-8998D499D53A}"/>
              </a:ext>
            </a:extLst>
          </p:cNvPr>
          <p:cNvSpPr txBox="1"/>
          <p:nvPr/>
        </p:nvSpPr>
        <p:spPr>
          <a:xfrm>
            <a:off x="3052119" y="1709657"/>
            <a:ext cx="610423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Handling Incoming Updates</a:t>
            </a:r>
            <a:endParaRPr lang="en-US" dirty="0"/>
          </a:p>
          <a:p>
            <a:r>
              <a:rPr lang="en-US" dirty="0"/>
              <a:t>Just like with Sampling, the Client uses </a:t>
            </a:r>
            <a:r>
              <a:rPr lang="en-US" b="1" dirty="0"/>
              <a:t>Callbacks</a:t>
            </a:r>
            <a:r>
              <a:rPr lang="en-US" dirty="0"/>
              <a:t> to handle this data.</a:t>
            </a:r>
          </a:p>
          <a:p>
            <a:r>
              <a:rPr lang="en-US" b="1" dirty="0"/>
              <a:t>1. Handling Logs: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Scope:</a:t>
            </a:r>
            <a:r>
              <a:rPr lang="en-US" dirty="0"/>
              <a:t> Session-wide.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Setup:</a:t>
            </a:r>
            <a:r>
              <a:rPr lang="en-US" dirty="0"/>
              <a:t> Define a callback function that accepts a log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Registration:</a:t>
            </a:r>
            <a:r>
              <a:rPr lang="en-US" dirty="0"/>
              <a:t> Pass this callback to the </a:t>
            </a:r>
            <a:r>
              <a:rPr lang="en-US" dirty="0" err="1"/>
              <a:t>ClientSession</a:t>
            </a:r>
            <a:r>
              <a:rPr lang="en-US" dirty="0"/>
              <a:t> upon initialization.</a:t>
            </a:r>
          </a:p>
          <a:p>
            <a:r>
              <a:rPr lang="en-US" b="1" dirty="0"/>
              <a:t>2. Handling Progress: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Scope:</a:t>
            </a:r>
            <a:r>
              <a:rPr lang="en-US" dirty="0"/>
              <a:t> Specific to a single tool call.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Setup:</a:t>
            </a:r>
            <a:r>
              <a:rPr lang="en-US" dirty="0"/>
              <a:t> Define a callback to handle progress numbers (e.g., update a progress bar).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Registration:</a:t>
            </a:r>
            <a:r>
              <a:rPr lang="en-US" dirty="0"/>
              <a:t> Pass this callback as an argument specifically to the </a:t>
            </a:r>
            <a:r>
              <a:rPr lang="en-US" dirty="0" err="1"/>
              <a:t>call_tool</a:t>
            </a:r>
            <a:r>
              <a:rPr lang="en-US" dirty="0"/>
              <a:t> function.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08995C-0846-2F43-32DF-879DE4AFF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0100" y="1709657"/>
            <a:ext cx="7772400" cy="429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15822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044EE-9C3D-362A-6DAF-9B02CFD92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CFD2327F-9CD3-574E-6E2D-BFA2ABBE46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629CE02-808E-AFD0-FDF1-15AC2AFE6FEA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Logging - </a:t>
            </a:r>
            <a:r>
              <a:rPr lang="en-US" sz="3600" b="1" dirty="0"/>
              <a:t>UI 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3F15C8-CB04-CB38-041B-A175D0DCB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E2BF9D-5CF2-1C73-3B16-6097B3FB9F0A}"/>
              </a:ext>
            </a:extLst>
          </p:cNvPr>
          <p:cNvSpPr txBox="1"/>
          <p:nvPr/>
        </p:nvSpPr>
        <p:spPr>
          <a:xfrm>
            <a:off x="3052187" y="1714236"/>
            <a:ext cx="6104372" cy="3203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UI Integration &amp; Flexibility</a:t>
            </a: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How to Display the Data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The MCP Client logic acts as a bridge; how you display the data is up to your application's UI layer.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CLI Applications: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Simply print log statements to the terminal.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Use a library like 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tqdm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for progress bars.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Web Applications: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Stream logs to a console window in the browser.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Update a visual Progress Bar component.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Optionality: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You are not required to display this data. It is a UX enhancement, and clients can choose to ignore these callbacks if the UI doesn't support them.</a:t>
            </a:r>
          </a:p>
        </p:txBody>
      </p:sp>
    </p:spTree>
    <p:extLst>
      <p:ext uri="{BB962C8B-B14F-4D97-AF65-F5344CB8AC3E}">
        <p14:creationId xmlns:p14="http://schemas.microsoft.com/office/powerpoint/2010/main" val="876075067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32FCA-1AC0-26E5-BF01-8E0718366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F14F7638-C5B1-28C7-B19D-130D01C7CE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EFD7D78-1D9A-2862-EBA4-60AF84346786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Introduction to Roots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99A823-344B-8D8D-BB7C-F2196FC41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9FBF39-B3D6-E7AD-6CB1-1CAC3D901DFF}"/>
              </a:ext>
            </a:extLst>
          </p:cNvPr>
          <p:cNvSpPr txBox="1"/>
          <p:nvPr/>
        </p:nvSpPr>
        <p:spPr>
          <a:xfrm>
            <a:off x="3052187" y="2022012"/>
            <a:ext cx="6104372" cy="25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Defining File System Access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Definition: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Roots are a codified mechanism for defining exactly which files and folders an MCP Server is allowed to access ON THE CLIENT.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The Concept: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Think of Roots as an "Allow List."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By default, an MCP Server shouldn't roam your entire hard drive.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Roots define specific entry points (e.g.,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~/Desktop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or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/project/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src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) that the user explicitly grants to the server.</a:t>
            </a:r>
          </a:p>
        </p:txBody>
      </p:sp>
    </p:spTree>
    <p:extLst>
      <p:ext uri="{BB962C8B-B14F-4D97-AF65-F5344CB8AC3E}">
        <p14:creationId xmlns:p14="http://schemas.microsoft.com/office/powerpoint/2010/main" val="1663936590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1BC52-A5F6-ABDB-D62D-0D2A7D4ED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8FC9A0E0-19EB-A547-D7C4-D0D81ABFD0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084DC35-E4D6-5E7F-0157-9B65E4925434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500"/>
              </a:lnSpc>
              <a:spcAft>
                <a:spcPts val="1350"/>
              </a:spcAft>
            </a:pPr>
            <a:r>
              <a:rPr lang="en-US" sz="3600" b="1" dirty="0">
                <a:solidFill>
                  <a:srgbClr val="1A1C1E"/>
                </a:solidFill>
                <a:latin typeface="Inter"/>
              </a:rPr>
              <a:t>Why do we need Roots?</a:t>
            </a:r>
            <a:endParaRPr lang="en-US" sz="3600" dirty="0">
              <a:solidFill>
                <a:srgbClr val="1A1C1E"/>
              </a:solidFill>
              <a:latin typeface="Inter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C9DFF4-9D40-1919-2E82-BB24B6D83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3701DB-50CD-D5A6-9A57-991C8CD22ED7}"/>
              </a:ext>
            </a:extLst>
          </p:cNvPr>
          <p:cNvSpPr txBox="1"/>
          <p:nvPr/>
        </p:nvSpPr>
        <p:spPr>
          <a:xfrm>
            <a:off x="3052187" y="1900184"/>
            <a:ext cx="6104372" cy="2182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Scenario: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A user asks: </a:t>
            </a:r>
            <a:r>
              <a:rPr lang="en-US" b="0" i="1" dirty="0">
                <a:solidFill>
                  <a:srgbClr val="1A1C1E"/>
                </a:solidFill>
                <a:effectLst/>
                <a:latin typeface="Inter"/>
              </a:rPr>
              <a:t>"Convert </a:t>
            </a:r>
            <a:r>
              <a:rPr lang="en-US" b="0" i="1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biking.mp4</a:t>
            </a:r>
            <a:r>
              <a:rPr lang="en-US" b="0" i="1" dirty="0">
                <a:solidFill>
                  <a:srgbClr val="1A1C1E"/>
                </a:solidFill>
                <a:effectLst/>
                <a:latin typeface="Inter"/>
              </a:rPr>
              <a:t> to MOV."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The Issue: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The Server doesn't know </a:t>
            </a:r>
            <a:r>
              <a:rPr lang="en-US" b="0" i="1" dirty="0">
                <a:solidFill>
                  <a:srgbClr val="1A1C1E"/>
                </a:solidFill>
                <a:effectLst/>
                <a:latin typeface="Inter"/>
              </a:rPr>
              <a:t>where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biking.mp4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lives.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Is it in Downloads? Movies? Documents?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Result: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The tool fails with "File not found" unless the user types the specific, absolute path (e.g.,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/Users/me/movies/biking.mp4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).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User Experience: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Forcing users to type absolute paths is tedious and poor design.</a:t>
            </a:r>
          </a:p>
        </p:txBody>
      </p:sp>
    </p:spTree>
    <p:extLst>
      <p:ext uri="{BB962C8B-B14F-4D97-AF65-F5344CB8AC3E}">
        <p14:creationId xmlns:p14="http://schemas.microsoft.com/office/powerpoint/2010/main" val="3911178405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21040-1F0B-DCF5-1CAB-CDC4095B1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030B5D04-40D1-3C56-19AE-21E5349FBF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-146050" y="-2667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0CFAAFC-39BE-58DE-F74A-65B8B3D9DF3A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The Solution: Roots as Search Paths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FD16CA-109E-D5AE-7DF6-3A796B02C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4FA5B-4580-20FA-E342-D2AB55A9298E}"/>
              </a:ext>
            </a:extLst>
          </p:cNvPr>
          <p:cNvSpPr txBox="1"/>
          <p:nvPr/>
        </p:nvSpPr>
        <p:spPr>
          <a:xfrm>
            <a:off x="3002692" y="1676342"/>
            <a:ext cx="6203092" cy="2968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Enabling Autonomous Discovery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The Setup: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The User launches the Client, passing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~/Desktop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as a Root argument.</a:t>
            </a: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The Server implements a tool: 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list_roots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.</a:t>
            </a: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The Workflow: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Claude checks availability: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Calls 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list_roots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-&gt; sees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~/Desktop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.</a:t>
            </a: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Claude searches: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Calls 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read_directory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on the Desktop.</a:t>
            </a: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Claude finds the file: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Sees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biking.mp4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exists there.</a:t>
            </a: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Action: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Claude autonomously constructs the full path and calls 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convert_video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successfully.</a:t>
            </a:r>
          </a:p>
        </p:txBody>
      </p:sp>
    </p:spTree>
    <p:extLst>
      <p:ext uri="{BB962C8B-B14F-4D97-AF65-F5344CB8AC3E}">
        <p14:creationId xmlns:p14="http://schemas.microsoft.com/office/powerpoint/2010/main" val="59452708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F2605-670E-EEFE-7234-DB5C2FD93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135794E2-6DDE-91A9-0B78-6F9E5B38ED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-146050" y="-2667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85E00A2-3573-7C51-BB38-D74E78024D65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The Security Boundary - Enforcing Sandboxing</a:t>
            </a:r>
            <a:endParaRPr lang="en-US" sz="3600" dirty="0">
              <a:solidFill>
                <a:srgbClr val="1A1C1E"/>
              </a:solidFill>
              <a:latin typeface="Inter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7CB6CE-730E-3484-8156-3F4ADCE21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798B01-39D5-F81C-8FE9-222B44466DE3}"/>
              </a:ext>
            </a:extLst>
          </p:cNvPr>
          <p:cNvSpPr txBox="1"/>
          <p:nvPr/>
        </p:nvSpPr>
        <p:spPr>
          <a:xfrm>
            <a:off x="2863679" y="1563816"/>
            <a:ext cx="6221626" cy="277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Roots also act as a security layer (Sandbox).</a:t>
            </a: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Scenario: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User asks: </a:t>
            </a:r>
            <a:r>
              <a:rPr lang="en-US" b="0" i="1" dirty="0">
                <a:solidFill>
                  <a:srgbClr val="1A1C1E"/>
                </a:solidFill>
                <a:effectLst/>
                <a:latin typeface="Inter"/>
              </a:rPr>
              <a:t>"Convert </a:t>
            </a:r>
            <a:r>
              <a:rPr lang="en-US" b="0" i="1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swimming.mp4</a:t>
            </a:r>
            <a:r>
              <a:rPr lang="en-US" b="0" i="1" dirty="0">
                <a:solidFill>
                  <a:srgbClr val="1A1C1E"/>
                </a:solidFill>
                <a:effectLst/>
                <a:latin typeface="Inter"/>
              </a:rPr>
              <a:t>"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(which resides in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~/Documents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).</a:t>
            </a: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Allowed Root: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Only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~/Desktop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.</a:t>
            </a: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The Outcome: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Claude tries to convert the file.</a:t>
            </a: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The Server checks the path against the Allowed Roots.</a:t>
            </a: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Access Denied: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Since 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~/Documents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is not in the Root list, the server refuses to touch the file.</a:t>
            </a:r>
          </a:p>
          <a:p>
            <a:pPr marL="285750" indent="-285750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Benefit: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Prevents the LLM from accidentally modifying or reading sensitive files outside the intended scope.</a:t>
            </a:r>
          </a:p>
        </p:txBody>
      </p:sp>
    </p:spTree>
    <p:extLst>
      <p:ext uri="{BB962C8B-B14F-4D97-AF65-F5344CB8AC3E}">
        <p14:creationId xmlns:p14="http://schemas.microsoft.com/office/powerpoint/2010/main" val="3831206677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A62D9-7BDE-1569-098B-99D742D40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35213E76-12B5-9E2B-3B1F-AF683EACB5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-146050" y="-26670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B584097-5104-29C1-630D-C5CC7402099B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The Dual Purpose of Roots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0643EB-89EF-24CE-1A6C-B49FBE7FC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06B6E2-5ADF-FA0E-6BFD-8E912A0BFA5F}"/>
              </a:ext>
            </a:extLst>
          </p:cNvPr>
          <p:cNvSpPr txBox="1"/>
          <p:nvPr/>
        </p:nvSpPr>
        <p:spPr>
          <a:xfrm>
            <a:off x="2937819" y="1812716"/>
            <a:ext cx="61722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Summary of Benefits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Roots solve two distinct problems simultaneously:</a:t>
            </a:r>
          </a:p>
          <a:p>
            <a:pPr marL="342900" indent="-342900" algn="l">
              <a:lnSpc>
                <a:spcPts val="15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Security (Access Control):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800100" lvl="1" indent="-342900" algn="l">
              <a:lnSpc>
                <a:spcPts val="15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Users explicitly grant permission.</a:t>
            </a:r>
          </a:p>
          <a:p>
            <a:pPr marL="800100" lvl="1" indent="-342900" algn="l">
              <a:lnSpc>
                <a:spcPts val="15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Protects the wider file system from unauthorized access.</a:t>
            </a:r>
          </a:p>
          <a:p>
            <a:pPr marL="342900" indent="-342900" algn="l">
              <a:lnSpc>
                <a:spcPts val="15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Focus (Context Window):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800100" lvl="1" indent="-342900" algn="l">
              <a:lnSpc>
                <a:spcPts val="15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Allows the LLM to narrow its attention.</a:t>
            </a:r>
          </a:p>
          <a:p>
            <a:pPr marL="800100" lvl="1" indent="-342900" algn="l">
              <a:lnSpc>
                <a:spcPts val="1500"/>
              </a:lnSpc>
              <a:spcAft>
                <a:spcPts val="225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Instead of scanning the whole drive, Claude searches only relevant folders (Roots) to resolve file names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2606615559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A64F5-862E-1DBC-F5AB-BB0785510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9-d2nf6d98bjvh7rlj01e0.jpg">
            <a:extLst>
              <a:ext uri="{FF2B5EF4-FFF2-40B4-BE49-F238E27FC236}">
                <a16:creationId xmlns:a16="http://schemas.microsoft.com/office/drawing/2014/main" id="{AB8A7C90-9564-1E71-DB39-609149BDFF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"/>
          <a:stretch/>
        </p:blipFill>
        <p:spPr>
          <a:xfrm>
            <a:off x="-145985" y="-13335"/>
            <a:ext cx="12204700" cy="68846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CA549C3-DA7E-70DA-38D9-9111CD824EF4}"/>
              </a:ext>
            </a:extLst>
          </p:cNvPr>
          <p:cNvSpPr/>
          <p:nvPr/>
        </p:nvSpPr>
        <p:spPr>
          <a:xfrm>
            <a:off x="0" y="614878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1A1C1E"/>
                </a:solidFill>
                <a:latin typeface="Inter"/>
              </a:rPr>
              <a:t>Implementation Reality - Developer Responsibility</a:t>
            </a:r>
            <a:endParaRPr lang="en-US" sz="3600" dirty="0">
              <a:solidFill>
                <a:srgbClr val="1A1C1E"/>
              </a:solidFill>
              <a:latin typeface="Inter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220629-8288-3049-C536-66D46F3D0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8711"/>
            <a:ext cx="65" cy="954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8A7BA-499F-F0FD-47E7-4B78A25264C0}"/>
              </a:ext>
            </a:extLst>
          </p:cNvPr>
          <p:cNvSpPr txBox="1"/>
          <p:nvPr/>
        </p:nvSpPr>
        <p:spPr>
          <a:xfrm>
            <a:off x="133350" y="1344919"/>
            <a:ext cx="6172200" cy="3413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Crucial Note: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The MCP SDK does </a:t>
            </a: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not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automatically enforce Root boundaries. It is a protocol concept, not a magic firewall.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Your Job as a Developer: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You must implement the logic to check paths.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Pattern: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Write a helper function (e.g., 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is_path_allowed</a:t>
            </a:r>
            <a:r>
              <a:rPr lang="en-US" b="0" i="0" dirty="0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(path)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).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Logic: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1200150" lvl="2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Get the list of Roots from the Client.</a:t>
            </a:r>
          </a:p>
          <a:p>
            <a:pPr marL="1200150" lvl="2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Check if the requested tool path is </a:t>
            </a:r>
            <a:r>
              <a:rPr lang="en-US" b="0" i="1" dirty="0">
                <a:solidFill>
                  <a:srgbClr val="1A1C1E"/>
                </a:solidFill>
                <a:effectLst/>
                <a:latin typeface="Inter"/>
              </a:rPr>
              <a:t>inside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one of those Roots.</a:t>
            </a:r>
          </a:p>
          <a:p>
            <a:pPr marL="1200150" lvl="2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If yes, proceed. If no, raise an error.</a:t>
            </a: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A1C1E"/>
                </a:solidFill>
                <a:effectLst/>
                <a:latin typeface="Inter"/>
              </a:rPr>
              <a:t>Exposing Roots: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You can create a </a:t>
            </a:r>
            <a:r>
              <a:rPr lang="en-US" b="0" i="0" dirty="0" err="1">
                <a:solidFill>
                  <a:srgbClr val="32302C"/>
                </a:solidFill>
                <a:effectLst/>
                <a:latin typeface="DM Mono" panose="020B0509040201040103" pitchFamily="49" charset="77"/>
              </a:rPr>
              <a:t>list_roots</a:t>
            </a:r>
            <a:r>
              <a:rPr lang="en-US" b="0" i="0" dirty="0">
                <a:solidFill>
                  <a:srgbClr val="1A1C1E"/>
                </a:solidFill>
                <a:effectLst/>
                <a:latin typeface="Inter"/>
              </a:rPr>
              <a:t> tool, or simply inject the allowed paths into the system prompt.</a:t>
            </a:r>
            <a:br>
              <a:rPr lang="en-US" b="0" i="0" dirty="0">
                <a:solidFill>
                  <a:srgbClr val="1A1C1E"/>
                </a:solidFill>
                <a:effectLst/>
                <a:latin typeface="Inter"/>
              </a:rPr>
            </a:b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285750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C1E"/>
                </a:solidFill>
                <a:latin typeface="Inter"/>
              </a:rPr>
              <a:t>I chose to put the ROOTS in the ‘secrets’ file on the client</a:t>
            </a:r>
            <a:endParaRPr lang="en-US" b="0" i="0" dirty="0">
              <a:solidFill>
                <a:srgbClr val="1A1C1E"/>
              </a:solidFill>
              <a:effectLst/>
              <a:latin typeface="Inter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F9D429-6548-B68B-DEC6-BA18843B9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0287" y="2866767"/>
            <a:ext cx="6068363" cy="348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64918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5D98-9585-2ED6-4AED-B22BAB7BC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70783AEB-60AF-715C-8A3A-C9CE32C5B989}"/>
              </a:ext>
            </a:extLst>
          </p:cNvPr>
          <p:cNvSpPr/>
          <p:nvPr/>
        </p:nvSpPr>
        <p:spPr>
          <a:xfrm>
            <a:off x="1640086" y="2336800"/>
            <a:ext cx="891182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pic>
        <p:nvPicPr>
          <p:cNvPr id="7170" name="Picture 2" descr="Decoding AI Magazine">
            <a:extLst>
              <a:ext uri="{FF2B5EF4-FFF2-40B4-BE49-F238E27FC236}">
                <a16:creationId xmlns:a16="http://schemas.microsoft.com/office/drawing/2014/main" id="{6D0D3B04-63DA-800A-B92E-131E87E27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19" y="3577280"/>
            <a:ext cx="4470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68C652-6AB4-B703-C8CA-6CBE836F8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688" y="2557849"/>
            <a:ext cx="2247900" cy="63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7CE1B3-E6CF-D1A2-D293-15807F708A45}"/>
              </a:ext>
            </a:extLst>
          </p:cNvPr>
          <p:cNvSpPr txBox="1"/>
          <p:nvPr/>
        </p:nvSpPr>
        <p:spPr>
          <a:xfrm>
            <a:off x="5036065" y="345989"/>
            <a:ext cx="21198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Credits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B1343C-CDB7-BAF5-11E4-39E484F788A3}"/>
              </a:ext>
            </a:extLst>
          </p:cNvPr>
          <p:cNvSpPr txBox="1"/>
          <p:nvPr/>
        </p:nvSpPr>
        <p:spPr>
          <a:xfrm>
            <a:off x="7147182" y="3244334"/>
            <a:ext cx="304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www.natebjones.com</a:t>
            </a:r>
            <a:r>
              <a:rPr lang="en-US" dirty="0"/>
              <a:t>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ACC674-160B-932E-7D5F-FE6A20CC5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6918" y="1676400"/>
            <a:ext cx="3438769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82015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</TotalTime>
  <Words>2669</Words>
  <Application>Microsoft Macintosh PowerPoint</Application>
  <PresentationFormat>Widescreen</PresentationFormat>
  <Paragraphs>367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Noto Sans SC</vt:lpstr>
      <vt:lpstr>Inter</vt:lpstr>
      <vt:lpstr>DM Mono</vt:lpstr>
      <vt:lpstr>MiSans</vt:lpstr>
      <vt:lpstr>Arial</vt:lpstr>
      <vt:lpstr>Source Sans Pro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0 to 5K: The RAG Blueprint</dc:title>
  <dc:subject>From 0 to 5K: The RAG Blueprint</dc:subject>
  <dc:creator>Kimi</dc:creator>
  <cp:lastModifiedBy>Thomas Niccum</cp:lastModifiedBy>
  <cp:revision>14</cp:revision>
  <dcterms:created xsi:type="dcterms:W3CDTF">2025-11-09T20:25:50Z</dcterms:created>
  <dcterms:modified xsi:type="dcterms:W3CDTF">2025-12-05T06:40:32Z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{"Label":"From 0 to 5K: The RAG Blueprint","ContentProducer":"001191110108MACG2KBH8F10000","ProduceID":"d48f9tmqvl7fh1midktg","ReservedCode1":"","ContentPropagator":"001191110108MACG2KBH8F20000","PropagateID":"d48f9tmqvl7fh1midktg","ReservedCode2":""}</vt:lpwstr>
  </property>
</Properties>
</file>